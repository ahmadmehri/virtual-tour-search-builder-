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tutorial you'll meet VT Search Builder — a free, offline tool that adds a powerful search box, and even guided scene-by-scene navigation, to any 3DVista virtual tour. No coding, no uploads, no accounts. By the end you'll know exactly why it exists, how it works, and how to use it on your own tours in about three clicks. Let's dive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3DVista is fantastic at building immersive virtual tours — but once you export one, there is no search. If a visitor wants the kitchen, the fire extinguisher, or photo number twelve, their only option is to click around and hope they stumble onto it. On a big tour with dozens of scenes and hundreds of hotspots, that gets frustrating fast. What people actually want is simple: a search box where they type a word and get taken straight there. That's the gap this tool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VT Search Builder solves it in one move: you drop in your exported tour folder, and it hands you back the exact same tour — with a search box already built in. Four things make it painless. One: it runs entirely in your browser, nothing to install. Two: nothing is uploaded; your tour never leaves your computer. Three: the result works the same whether the tour is online or opened straight off a USB stick, because it's plain JavaScript driving the tour's own player. And four: it works on any 3DVista website export — you just run it once per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workflow is just three steps. Step one: load your tour by dropping in the exported folder. Step two: configure — choose what's searchable, rename items, add keywords, and tweak the look. Step three: export — one click gives you a ready-to-publish zip. That's it. You never edit a single line of code. You unzip the result, upload the folder to your website — or just open it locally — and the search is already there. Let's walk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 loading your tour. Open VT-Search-Builder dot HTML; it's a single file, so you just double-click it. Then drag your exported tour folder onto the page — or click "Choose tour folder". That folder is the website export, the one containing index dot htm, script dot js, the media folder and the locale folder. The moment you select it, the tool reads everything locally and shows you what it found. Quick tip: folder drag-and-drop is smoothest in Firefox and on hosted pages, but the "Choose folder" button always works, in every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soon as the tour loads, you get a summary of everything searchable — here, five scenes, thirty-three hotspots, a photo, and some albums. It reads the names straight from your tour's locale files, so every language you authored is supported. Scenes, photos and videos use their names; hotspots use their tooltips. Behind the scenes it also grabs thumbnails and maps out how your scenes connect — that scene graph is what powers the guided navigation we'll see in a minute. And it shows a live preview, so you can see the search box update as you make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in control of what's searchable. Scenes and hotspots are on by default because the player opens them reliably. Photos, albums and videos are off by default — and there's a good reason. A 3DVista export only lets an outside script switch the main media; things like pop-up photo or album slides are opened by the buttons the author placed inside the tour, and no outside script can trigger those. So if you know a certain type opens in your tour, tick it on. And if a re-ticked item turns out not to open, the search shows a friendly "open it from the menu" note rather than just failing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tool really shines. Every item gets two optional boxes. The first is a display name — turn a cryptic "zero-one" into "Kitchen counter". The second is extra search words — comma-separated terms a visitor might actually type; for a scene called "Entrance" you might add front door, lobby, foyer, start. Now any of those words lands them there. Three reassurances: the original name always stays searchable, so you never lose anything; each item shows a thumbnail so you know what you're editing; and navigation always uses the real underlying media, so nothing breaks. And all of this is baked in as plain text — still fully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itself is built to be forgiving — because real visitors make typos. It's case-insensitive, it ignores accents so "cafe" finds "café", and it's genuinely typo-tolerant: "bedrom", "kitchn", even "entrence" still find the right thing. Multi-word queries work too — "master bed" finds "Master Bedroom". If someone doesn't know what to type, they can open the box empty and browse everything grouped by type. And every result is labelled — you can see whether it's a scene or a hotspot, and which scene a hotspot lives in. Here, typing just "kitch" surfaces the Kitchen scene and every hotspot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the feature most search add-ons can't do. When a result is a scene, the visitor gets two choices. "Jump" teleports them straight there — fast and simple. But "Guide me" is special: instead of teleporting, the viewer walks them there, scene by scene, turning toward each connecting doorway and stepping through it, until they arrive. There's a Stop button if they want to bail out. Why does this matter? Because visitors keep their sense of place — they see the actual route rather than blinking to a new spot. It's perfect for orientation, wayfinding and storytelling, and it's powered entirely by your tour's own scene connections. Prefer plain jumps? You can switch guiding off in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guided walk works under the hood, using a real example: from the Pool, to the Kitchen. First, the tool builds a graph of which doorway connects to which scene. Then it finds the shortest route — Pool, to Master Bedroom, to Great Room, to Kitchen. For each hop, it rotates the camera the shorter way — left or right, whichever is the smaller turn — until the connecting doorway is centred on screen, and then it clicks it to step through. It repeats that until the visitor arrives. And when the walk ends, it quietly restores your tour's original camera settings, so nothing about your tour is permanently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 getting your finished tour. There are two ways out. Option A is the one-click zip: it rebuilds your whole tour with the search baked in, and you just unzip, upload, and you're done — no editing, and your original folder is never touched. That's the right choice for normal-sized tours, up to roughly a gigabyte. Option B is for very large tours: instead of rebuilding everything, it hands you just two small files — vtsearch dot js and a patched index dot htm — that you drop into your existing folder yourself. Either way, nothing is uploaded; it all happens in your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briefly, what's actually doing the work. There are two small pieces. The parser reads your tour data and locale files and pulls out the scenes, hotspots, thumbnails, and that scene-connection graph. The widget is a tiny script injected into your tour — it draws the search box, runs the forgiving match, and drives the tour's own player to navigate and to perform the guided walks. And one thing worth repeating: it's a hundred percent offline and private. There's no AI or internet at search time. Your tour, and whatever your visitors type, never leaves the browser — the search works exactly the same with no connection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things worth knowing. It works on tours you exported with 3DVista's "export to website" or HTML option — the static folder, not the project file. It runs in all modern browsers, and it handles dual-skin tours, so the search appears and works on both the desktop and mobile versions. Multiple languages are supported because it reads every locale file. The one real limitation, which we mentioned, is that pop-up photos and albums can't be opened by an outside script, so those are off by default. And to be clear, this is an independent, unofficial tool — it's not affiliated with 3DVista; it simply works on the output their export feature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recap. With VT Search Builder you drop in your tour, configure it, and export — no code at any point. You get forgiving search that handles typos, accents and multiple languages, plus a browse-all mode. You can rename items and add keywords so everything is findable. Scene results can guide visitors there, the shortest way. And the whole thing is a single, self-contained file that runs a hundred percent offline. If this was helpful, the tool is free — and you'll find it, along with more 3DVista and geo-engineering tutorials, over on the RockBench channel. Thanks for watching — now go make your tours searchable.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C1016"/>
          </a:solidFill>
          <a:ln/>
        </p:spPr>
      </p:sp>
      <p:sp>
        <p:nvSpPr>
          <p:cNvPr id="3" name="Shape 1"/>
          <p:cNvSpPr/>
          <p:nvPr/>
        </p:nvSpPr>
        <p:spPr>
          <a:xfrm>
            <a:off x="0" y="0"/>
            <a:ext cx="164592" cy="6858000"/>
          </a:xfrm>
          <a:prstGeom prst="rect">
            <a:avLst/>
          </a:prstGeom>
          <a:solidFill>
            <a:srgbClr val="2DA3FF"/>
          </a:solidFill>
          <a:ln/>
        </p:spPr>
      </p:sp>
      <p:pic>
        <p:nvPicPr>
          <p:cNvPr id="4" name="Image 0" descr="C:\Users\Ahmad\Downloads\Git\rockbench_Logo.jpg">    </p:cNvPr>
          <p:cNvPicPr>
            <a:picLocks noChangeAspect="1"/>
          </p:cNvPicPr>
          <p:nvPr/>
        </p:nvPicPr>
        <p:blipFill>
          <a:blip r:embed="rId1"/>
          <a:stretch>
            <a:fillRect/>
          </a:stretch>
        </p:blipFill>
        <p:spPr>
          <a:xfrm>
            <a:off x="822960" y="731520"/>
            <a:ext cx="914400" cy="914400"/>
          </a:xfrm>
          <a:prstGeom prst="ellipse">
            <a:avLst/>
          </a:prstGeom>
        </p:spPr>
      </p:pic>
      <p:sp>
        <p:nvSpPr>
          <p:cNvPr id="5" name="Text 2"/>
          <p:cNvSpPr/>
          <p:nvPr/>
        </p:nvSpPr>
        <p:spPr>
          <a:xfrm>
            <a:off x="1920240" y="914400"/>
            <a:ext cx="8229600" cy="365760"/>
          </a:xfrm>
          <a:prstGeom prst="rect">
            <a:avLst/>
          </a:prstGeom>
          <a:noFill/>
          <a:ln/>
        </p:spPr>
        <p:txBody>
          <a:bodyPr wrap="square" rtlCol="0" anchor="ctr"/>
          <a:lstStyle/>
          <a:p>
            <a:pPr indent="0" marL="0">
              <a:buNone/>
            </a:pPr>
            <a:r>
              <a:rPr lang="en-US" sz="1400" b="1" spc="300" kern="0" dirty="0">
                <a:solidFill>
                  <a:srgbClr val="2DA3FF"/>
                </a:solidFill>
                <a:latin typeface="Segoe UI" pitchFamily="34" charset="0"/>
                <a:ea typeface="Segoe UI" pitchFamily="34" charset="-122"/>
                <a:cs typeface="Segoe UI" pitchFamily="34" charset="-120"/>
              </a:rPr>
              <a:t>ROCKBENCH PRESENTS</a:t>
            </a:r>
            <a:endParaRPr lang="en-US" sz="1400" dirty="0"/>
          </a:p>
        </p:txBody>
      </p:sp>
      <p:sp>
        <p:nvSpPr>
          <p:cNvPr id="6" name="Text 3"/>
          <p:cNvSpPr/>
          <p:nvPr/>
        </p:nvSpPr>
        <p:spPr>
          <a:xfrm>
            <a:off x="777240" y="2103120"/>
            <a:ext cx="10607040" cy="1188720"/>
          </a:xfrm>
          <a:prstGeom prst="rect">
            <a:avLst/>
          </a:prstGeom>
          <a:noFill/>
          <a:ln/>
        </p:spPr>
        <p:txBody>
          <a:bodyPr wrap="square" rtlCol="0" anchor="ctr"/>
          <a:lstStyle/>
          <a:p>
            <a:pPr indent="0" marL="0">
              <a:buNone/>
            </a:pPr>
            <a:r>
              <a:rPr lang="en-US" sz="6000" b="1" dirty="0">
                <a:solidFill>
                  <a:srgbClr val="EEF3F9"/>
                </a:solidFill>
                <a:latin typeface="Segoe UI" pitchFamily="34" charset="0"/>
                <a:ea typeface="Segoe UI" pitchFamily="34" charset="-122"/>
                <a:cs typeface="Segoe UI" pitchFamily="34" charset="-120"/>
              </a:rPr>
              <a:t>VT Search Builder</a:t>
            </a:r>
            <a:endParaRPr lang="en-US" sz="6000" dirty="0"/>
          </a:p>
        </p:txBody>
      </p:sp>
      <p:sp>
        <p:nvSpPr>
          <p:cNvPr id="7" name="Text 4"/>
          <p:cNvSpPr/>
          <p:nvPr/>
        </p:nvSpPr>
        <p:spPr>
          <a:xfrm>
            <a:off x="822960" y="3383280"/>
            <a:ext cx="10424160" cy="1005840"/>
          </a:xfrm>
          <a:prstGeom prst="rect">
            <a:avLst/>
          </a:prstGeom>
          <a:noFill/>
          <a:ln/>
        </p:spPr>
        <p:txBody>
          <a:bodyPr wrap="square" rtlCol="0" anchor="ctr"/>
          <a:lstStyle/>
          <a:p>
            <a:pPr indent="0" marL="0">
              <a:lnSpc>
                <a:spcPct val="110000"/>
              </a:lnSpc>
              <a:buNone/>
            </a:pPr>
            <a:r>
              <a:rPr lang="en-US" sz="2200" dirty="0">
                <a:solidFill>
                  <a:srgbClr val="C7D2DE"/>
                </a:solidFill>
                <a:latin typeface="Segoe UI" pitchFamily="34" charset="0"/>
                <a:ea typeface="Segoe UI" pitchFamily="34" charset="-122"/>
                <a:cs typeface="Segoe UI" pitchFamily="34" charset="-120"/>
              </a:rPr>
              <a:t>Add a real search box — and one-click guided navigation —</a:t>
            </a:r>
            <a:endParaRPr lang="en-US" sz="2200" dirty="0"/>
          </a:p>
          <a:p>
            <a:pPr indent="0" marL="0">
              <a:lnSpc>
                <a:spcPct val="110000"/>
              </a:lnSpc>
              <a:buNone/>
            </a:pPr>
            <a:r>
              <a:rPr lang="en-US" sz="2200" dirty="0">
                <a:solidFill>
                  <a:srgbClr val="C7D2DE"/>
                </a:solidFill>
                <a:latin typeface="Segoe UI" pitchFamily="34" charset="0"/>
                <a:ea typeface="Segoe UI" pitchFamily="34" charset="-122"/>
                <a:cs typeface="Segoe UI" pitchFamily="34" charset="-120"/>
              </a:rPr>
              <a:t>to any 3DVista virtual tour.</a:t>
            </a:r>
            <a:endParaRPr lang="en-US" sz="2200" dirty="0"/>
          </a:p>
        </p:txBody>
      </p:sp>
      <p:sp>
        <p:nvSpPr>
          <p:cNvPr id="8" name="Shape 5"/>
          <p:cNvSpPr/>
          <p:nvPr/>
        </p:nvSpPr>
        <p:spPr>
          <a:xfrm>
            <a:off x="822960" y="4663440"/>
            <a:ext cx="2011680" cy="384048"/>
          </a:xfrm>
          <a:prstGeom prst="roundRect">
            <a:avLst>
              <a:gd name="adj" fmla="val 50000"/>
            </a:avLst>
          </a:prstGeom>
          <a:solidFill>
            <a:srgbClr val="15202E"/>
          </a:solidFill>
          <a:ln w="12700">
            <a:solidFill>
              <a:srgbClr val="2B3B4F"/>
            </a:solidFill>
            <a:prstDash val="solid"/>
          </a:ln>
        </p:spPr>
      </p:sp>
      <p:sp>
        <p:nvSpPr>
          <p:cNvPr id="9" name="Shape 6"/>
          <p:cNvSpPr/>
          <p:nvPr/>
        </p:nvSpPr>
        <p:spPr>
          <a:xfrm>
            <a:off x="950976" y="4809744"/>
            <a:ext cx="91440" cy="91440"/>
          </a:xfrm>
          <a:prstGeom prst="ellipse">
            <a:avLst/>
          </a:prstGeom>
          <a:solidFill>
            <a:srgbClr val="2DA3FF"/>
          </a:solidFill>
          <a:ln/>
        </p:spPr>
      </p:sp>
      <p:sp>
        <p:nvSpPr>
          <p:cNvPr id="10" name="Text 7"/>
          <p:cNvSpPr/>
          <p:nvPr/>
        </p:nvSpPr>
        <p:spPr>
          <a:xfrm>
            <a:off x="1097280" y="4663440"/>
            <a:ext cx="1737360" cy="384048"/>
          </a:xfrm>
          <a:prstGeom prst="rect">
            <a:avLst/>
          </a:prstGeom>
          <a:noFill/>
          <a:ln/>
        </p:spPr>
        <p:txBody>
          <a:bodyPr wrap="square" rtlCol="0" anchor="ctr"/>
          <a:lstStyle/>
          <a:p>
            <a:pPr indent="0" marL="0">
              <a:buNone/>
            </a:pPr>
            <a:r>
              <a:rPr lang="en-US" sz="1200" b="1" dirty="0">
                <a:solidFill>
                  <a:srgbClr val="C7D2DE"/>
                </a:solidFill>
                <a:latin typeface="Segoe UI" pitchFamily="34" charset="0"/>
                <a:ea typeface="Segoe UI" pitchFamily="34" charset="-122"/>
                <a:cs typeface="Segoe UI" pitchFamily="34" charset="-120"/>
              </a:rPr>
              <a:t>100% offline</a:t>
            </a:r>
            <a:endParaRPr lang="en-US" sz="1200" dirty="0"/>
          </a:p>
        </p:txBody>
      </p:sp>
      <p:sp>
        <p:nvSpPr>
          <p:cNvPr id="11" name="Shape 8"/>
          <p:cNvSpPr/>
          <p:nvPr/>
        </p:nvSpPr>
        <p:spPr>
          <a:xfrm>
            <a:off x="3017520" y="4663440"/>
            <a:ext cx="2468880" cy="384048"/>
          </a:xfrm>
          <a:prstGeom prst="roundRect">
            <a:avLst>
              <a:gd name="adj" fmla="val 50000"/>
            </a:avLst>
          </a:prstGeom>
          <a:solidFill>
            <a:srgbClr val="15202E"/>
          </a:solidFill>
          <a:ln w="12700">
            <a:solidFill>
              <a:srgbClr val="2B3B4F"/>
            </a:solidFill>
            <a:prstDash val="solid"/>
          </a:ln>
        </p:spPr>
      </p:sp>
      <p:sp>
        <p:nvSpPr>
          <p:cNvPr id="12" name="Shape 9"/>
          <p:cNvSpPr/>
          <p:nvPr/>
        </p:nvSpPr>
        <p:spPr>
          <a:xfrm>
            <a:off x="3145536" y="4809744"/>
            <a:ext cx="91440" cy="91440"/>
          </a:xfrm>
          <a:prstGeom prst="ellipse">
            <a:avLst/>
          </a:prstGeom>
          <a:solidFill>
            <a:srgbClr val="36D17A"/>
          </a:solidFill>
          <a:ln/>
        </p:spPr>
      </p:sp>
      <p:sp>
        <p:nvSpPr>
          <p:cNvPr id="13" name="Text 10"/>
          <p:cNvSpPr/>
          <p:nvPr/>
        </p:nvSpPr>
        <p:spPr>
          <a:xfrm>
            <a:off x="3291840" y="4663440"/>
            <a:ext cx="2194560" cy="384048"/>
          </a:xfrm>
          <a:prstGeom prst="rect">
            <a:avLst/>
          </a:prstGeom>
          <a:noFill/>
          <a:ln/>
        </p:spPr>
        <p:txBody>
          <a:bodyPr wrap="square" rtlCol="0" anchor="ctr"/>
          <a:lstStyle/>
          <a:p>
            <a:pPr indent="0" marL="0">
              <a:buNone/>
            </a:pPr>
            <a:r>
              <a:rPr lang="en-US" sz="1200" b="1" dirty="0">
                <a:solidFill>
                  <a:srgbClr val="C7D2DE"/>
                </a:solidFill>
                <a:latin typeface="Segoe UI" pitchFamily="34" charset="0"/>
                <a:ea typeface="Segoe UI" pitchFamily="34" charset="-122"/>
                <a:cs typeface="Segoe UI" pitchFamily="34" charset="-120"/>
              </a:rPr>
              <a:t>No code · no upload</a:t>
            </a:r>
            <a:endParaRPr lang="en-US" sz="1200" dirty="0"/>
          </a:p>
        </p:txBody>
      </p:sp>
      <p:sp>
        <p:nvSpPr>
          <p:cNvPr id="14" name="Shape 11"/>
          <p:cNvSpPr/>
          <p:nvPr/>
        </p:nvSpPr>
        <p:spPr>
          <a:xfrm>
            <a:off x="5669280" y="4663440"/>
            <a:ext cx="2651760" cy="384048"/>
          </a:xfrm>
          <a:prstGeom prst="roundRect">
            <a:avLst>
              <a:gd name="adj" fmla="val 50000"/>
            </a:avLst>
          </a:prstGeom>
          <a:solidFill>
            <a:srgbClr val="15202E"/>
          </a:solidFill>
          <a:ln w="12700">
            <a:solidFill>
              <a:srgbClr val="2B3B4F"/>
            </a:solidFill>
            <a:prstDash val="solid"/>
          </a:ln>
        </p:spPr>
      </p:sp>
      <p:sp>
        <p:nvSpPr>
          <p:cNvPr id="15" name="Shape 12"/>
          <p:cNvSpPr/>
          <p:nvPr/>
        </p:nvSpPr>
        <p:spPr>
          <a:xfrm>
            <a:off x="5797296" y="4809744"/>
            <a:ext cx="91440" cy="91440"/>
          </a:xfrm>
          <a:prstGeom prst="ellipse">
            <a:avLst/>
          </a:prstGeom>
          <a:solidFill>
            <a:srgbClr val="E8943A"/>
          </a:solidFill>
          <a:ln/>
        </p:spPr>
      </p:sp>
      <p:sp>
        <p:nvSpPr>
          <p:cNvPr id="16" name="Text 13"/>
          <p:cNvSpPr/>
          <p:nvPr/>
        </p:nvSpPr>
        <p:spPr>
          <a:xfrm>
            <a:off x="5943600" y="4663440"/>
            <a:ext cx="2377440" cy="384048"/>
          </a:xfrm>
          <a:prstGeom prst="rect">
            <a:avLst/>
          </a:prstGeom>
          <a:noFill/>
          <a:ln/>
        </p:spPr>
        <p:txBody>
          <a:bodyPr wrap="square" rtlCol="0" anchor="ctr"/>
          <a:lstStyle/>
          <a:p>
            <a:pPr indent="0" marL="0">
              <a:buNone/>
            </a:pPr>
            <a:r>
              <a:rPr lang="en-US" sz="1200" b="1" dirty="0">
                <a:solidFill>
                  <a:srgbClr val="C7D2DE"/>
                </a:solidFill>
                <a:latin typeface="Segoe UI" pitchFamily="34" charset="0"/>
                <a:ea typeface="Segoe UI" pitchFamily="34" charset="-122"/>
                <a:cs typeface="Segoe UI" pitchFamily="34" charset="-120"/>
              </a:rPr>
              <a:t>Typo-tolerant search</a:t>
            </a:r>
            <a:endParaRPr lang="en-US" sz="1200" dirty="0"/>
          </a:p>
        </p:txBody>
      </p:sp>
      <p:sp>
        <p:nvSpPr>
          <p:cNvPr id="17" name="Shape 14"/>
          <p:cNvSpPr/>
          <p:nvPr/>
        </p:nvSpPr>
        <p:spPr>
          <a:xfrm>
            <a:off x="8503920" y="4663440"/>
            <a:ext cx="2651760" cy="384048"/>
          </a:xfrm>
          <a:prstGeom prst="roundRect">
            <a:avLst>
              <a:gd name="adj" fmla="val 50000"/>
            </a:avLst>
          </a:prstGeom>
          <a:solidFill>
            <a:srgbClr val="15202E"/>
          </a:solidFill>
          <a:ln w="12700">
            <a:solidFill>
              <a:srgbClr val="2B3B4F"/>
            </a:solidFill>
            <a:prstDash val="solid"/>
          </a:ln>
        </p:spPr>
      </p:sp>
      <p:sp>
        <p:nvSpPr>
          <p:cNvPr id="18" name="Shape 15"/>
          <p:cNvSpPr/>
          <p:nvPr/>
        </p:nvSpPr>
        <p:spPr>
          <a:xfrm>
            <a:off x="8631936" y="4809744"/>
            <a:ext cx="91440" cy="91440"/>
          </a:xfrm>
          <a:prstGeom prst="ellipse">
            <a:avLst/>
          </a:prstGeom>
          <a:solidFill>
            <a:srgbClr val="B483FF"/>
          </a:solidFill>
          <a:ln/>
        </p:spPr>
      </p:sp>
      <p:sp>
        <p:nvSpPr>
          <p:cNvPr id="19" name="Text 16"/>
          <p:cNvSpPr/>
          <p:nvPr/>
        </p:nvSpPr>
        <p:spPr>
          <a:xfrm>
            <a:off x="8778240" y="4663440"/>
            <a:ext cx="2377440" cy="384048"/>
          </a:xfrm>
          <a:prstGeom prst="rect">
            <a:avLst/>
          </a:prstGeom>
          <a:noFill/>
          <a:ln/>
        </p:spPr>
        <p:txBody>
          <a:bodyPr wrap="square" rtlCol="0" anchor="ctr"/>
          <a:lstStyle/>
          <a:p>
            <a:pPr indent="0" marL="0">
              <a:buNone/>
            </a:pPr>
            <a:r>
              <a:rPr lang="en-US" sz="1200" b="1" dirty="0">
                <a:solidFill>
                  <a:srgbClr val="C7D2DE"/>
                </a:solidFill>
                <a:latin typeface="Segoe UI" pitchFamily="34" charset="0"/>
                <a:ea typeface="Segoe UI" pitchFamily="34" charset="-122"/>
                <a:cs typeface="Segoe UI" pitchFamily="34" charset="-120"/>
              </a:rPr>
              <a:t>Guided navigation</a:t>
            </a:r>
            <a:endParaRPr lang="en-US" sz="1200" dirty="0"/>
          </a:p>
        </p:txBody>
      </p:sp>
      <p:sp>
        <p:nvSpPr>
          <p:cNvPr id="20" name="Text 17"/>
          <p:cNvSpPr/>
          <p:nvPr/>
        </p:nvSpPr>
        <p:spPr>
          <a:xfrm>
            <a:off x="822960" y="6035040"/>
            <a:ext cx="10058400" cy="365760"/>
          </a:xfrm>
          <a:prstGeom prst="rect">
            <a:avLst/>
          </a:prstGeom>
          <a:noFill/>
          <a:ln/>
        </p:spPr>
        <p:txBody>
          <a:bodyPr wrap="square" rtlCol="0" anchor="ctr"/>
          <a:lstStyle/>
          <a:p>
            <a:pPr indent="0" marL="0">
              <a:buNone/>
            </a:pPr>
            <a:r>
              <a:rPr lang="en-US" sz="1400" dirty="0">
                <a:solidFill>
                  <a:srgbClr val="9FB2C6"/>
                </a:solidFill>
                <a:latin typeface="Segoe UI" pitchFamily="34" charset="0"/>
                <a:ea typeface="Segoe UI" pitchFamily="34" charset="-122"/>
                <a:cs typeface="Segoe UI" pitchFamily="34" charset="-120"/>
              </a:rPr>
              <a:t>A complete walkthrough  ·  youtube.com/@rockbench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THE PROBLEM</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Beautiful tours — but no way to search them</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2</a:t>
            </a:r>
            <a:endParaRPr lang="en-US" sz="900" dirty="0"/>
          </a:p>
        </p:txBody>
      </p:sp>
      <p:sp>
        <p:nvSpPr>
          <p:cNvPr id="8" name="Shape 6"/>
          <p:cNvSpPr/>
          <p:nvPr/>
        </p:nvSpPr>
        <p:spPr>
          <a:xfrm>
            <a:off x="548640" y="1783080"/>
            <a:ext cx="5486400" cy="4206240"/>
          </a:xfrm>
          <a:prstGeom prst="roundRect">
            <a:avLst>
              <a:gd name="adj" fmla="val 1957"/>
            </a:avLst>
          </a:prstGeom>
          <a:solidFill>
            <a:srgbClr val="161D27"/>
          </a:solidFill>
          <a:ln w="12700">
            <a:solidFill>
              <a:srgbClr val="243042"/>
            </a:solidFill>
            <a:prstDash val="solid"/>
          </a:ln>
        </p:spPr>
      </p:sp>
      <p:sp>
        <p:nvSpPr>
          <p:cNvPr id="9" name="Text 7"/>
          <p:cNvSpPr/>
          <p:nvPr/>
        </p:nvSpPr>
        <p:spPr>
          <a:xfrm>
            <a:off x="822960" y="2057400"/>
            <a:ext cx="4937760" cy="4206240"/>
          </a:xfrm>
          <a:prstGeom prst="rect">
            <a:avLst/>
          </a:prstGeom>
          <a:noFill/>
          <a:ln/>
        </p:spPr>
        <p:txBody>
          <a:bodyPr wrap="square" rtlCol="0" anchor="t"/>
          <a:lstStyle/>
          <a:p>
            <a:pPr marL="203200" indent="-203200">
              <a:lnSpc>
                <a:spcPct val="104000"/>
              </a:lnSpc>
              <a:spcAft>
                <a:spcPts val="1400"/>
              </a:spcAft>
              <a:buSzPct val="100000"/>
              <a:buChar char="•"/>
            </a:pPr>
            <a:r>
              <a:rPr lang="en-US" sz="1600" b="1" dirty="0">
                <a:solidFill>
                  <a:srgbClr val="EEF3F9"/>
                </a:solidFill>
                <a:latin typeface="Segoe UI" pitchFamily="34" charset="0"/>
                <a:ea typeface="Segoe UI" pitchFamily="34" charset="-122"/>
                <a:cs typeface="Segoe UI" pitchFamily="34" charset="-120"/>
              </a:rPr>
              <a:t>3DVista makes gorgeous virtual tours…</a:t>
            </a:r>
            <a:endParaRPr lang="en-US" sz="1600" dirty="0"/>
          </a:p>
          <a:p>
            <a:pPr marL="203200" indent="-203200">
              <a:lnSpc>
                <a:spcPct val="104000"/>
              </a:lnSpc>
              <a:spcAft>
                <a:spcPts val="1400"/>
              </a:spcAft>
              <a:buSzPct val="100000"/>
              <a:buChar char="•"/>
            </a:pPr>
            <a:r>
              <a:rPr lang="en-US" sz="1600" dirty="0">
                <a:solidFill>
                  <a:srgbClr val="C7D2DE"/>
                </a:solidFill>
                <a:latin typeface="Segoe UI" pitchFamily="34" charset="0"/>
                <a:ea typeface="Segoe UI" pitchFamily="34" charset="-122"/>
                <a:cs typeface="Segoe UI" pitchFamily="34" charset="-120"/>
              </a:rPr>
              <a:t>…but the exported tour has no search box at all.</a:t>
            </a:r>
            <a:endParaRPr lang="en-US" sz="1600" dirty="0"/>
          </a:p>
          <a:p>
            <a:pPr marL="203200" indent="-203200">
              <a:lnSpc>
                <a:spcPct val="104000"/>
              </a:lnSpc>
              <a:spcAft>
                <a:spcPts val="1400"/>
              </a:spcAft>
              <a:buSzPct val="100000"/>
              <a:buChar char="•"/>
            </a:pPr>
            <a:r>
              <a:rPr lang="en-US" sz="1600" dirty="0">
                <a:solidFill>
                  <a:srgbClr val="C7D2DE"/>
                </a:solidFill>
                <a:latin typeface="Segoe UI" pitchFamily="34" charset="0"/>
                <a:ea typeface="Segoe UI" pitchFamily="34" charset="-122"/>
                <a:cs typeface="Segoe UI" pitchFamily="34" charset="-120"/>
              </a:rPr>
              <a:t>Visitors must click around blindly to find a room or an object.</a:t>
            </a:r>
            <a:endParaRPr lang="en-US" sz="1600" dirty="0"/>
          </a:p>
          <a:p>
            <a:pPr marL="203200" indent="-203200">
              <a:lnSpc>
                <a:spcPct val="104000"/>
              </a:lnSpc>
              <a:spcAft>
                <a:spcPts val="1400"/>
              </a:spcAft>
              <a:buSzPct val="100000"/>
              <a:buChar char="•"/>
            </a:pPr>
            <a:r>
              <a:rPr lang="en-US" sz="1600" dirty="0">
                <a:solidFill>
                  <a:srgbClr val="C7D2DE"/>
                </a:solidFill>
                <a:latin typeface="Segoe UI" pitchFamily="34" charset="0"/>
                <a:ea typeface="Segoe UI" pitchFamily="34" charset="-122"/>
                <a:cs typeface="Segoe UI" pitchFamily="34" charset="-120"/>
              </a:rPr>
              <a:t>Large tours — dozens of scenes, hundreds of hotspots — get frustrating fast.</a:t>
            </a:r>
            <a:endParaRPr lang="en-US" sz="1600" dirty="0"/>
          </a:p>
          <a:p>
            <a:pPr marL="203200" indent="-203200">
              <a:lnSpc>
                <a:spcPct val="104000"/>
              </a:lnSpc>
              <a:spcAft>
                <a:spcPts val="1400"/>
              </a:spcAft>
              <a:buSzPct val="100000"/>
              <a:buChar char="•"/>
            </a:pPr>
            <a:r>
              <a:rPr lang="en-US" sz="1600" dirty="0">
                <a:solidFill>
                  <a:srgbClr val="C7D2DE"/>
                </a:solidFill>
                <a:latin typeface="Segoe UI" pitchFamily="34" charset="0"/>
                <a:ea typeface="Segoe UI" pitchFamily="34" charset="-122"/>
                <a:cs typeface="Segoe UI" pitchFamily="34" charset="-120"/>
              </a:rPr>
              <a:t>There's no built-in way to say “take me to the kitchen”.</a:t>
            </a:r>
            <a:endParaRPr lang="en-US" sz="1600" dirty="0"/>
          </a:p>
        </p:txBody>
      </p:sp>
      <p:sp>
        <p:nvSpPr>
          <p:cNvPr id="10" name="Shape 8"/>
          <p:cNvSpPr/>
          <p:nvPr/>
        </p:nvSpPr>
        <p:spPr>
          <a:xfrm>
            <a:off x="6309360" y="1783080"/>
            <a:ext cx="5303520" cy="4206240"/>
          </a:xfrm>
          <a:prstGeom prst="roundRect">
            <a:avLst>
              <a:gd name="adj" fmla="val 1957"/>
            </a:avLst>
          </a:prstGeom>
          <a:solidFill>
            <a:srgbClr val="11171F"/>
          </a:solidFill>
          <a:ln w="12700">
            <a:solidFill>
              <a:srgbClr val="243042"/>
            </a:solidFill>
            <a:prstDash val="solid"/>
          </a:ln>
        </p:spPr>
      </p:sp>
      <p:sp>
        <p:nvSpPr>
          <p:cNvPr id="11" name="Text 9"/>
          <p:cNvSpPr/>
          <p:nvPr/>
        </p:nvSpPr>
        <p:spPr>
          <a:xfrm>
            <a:off x="6583680" y="2011680"/>
            <a:ext cx="4754880" cy="365760"/>
          </a:xfrm>
          <a:prstGeom prst="rect">
            <a:avLst/>
          </a:prstGeom>
          <a:noFill/>
          <a:ln/>
        </p:spPr>
        <p:txBody>
          <a:bodyPr wrap="square" rtlCol="0" anchor="ctr"/>
          <a:lstStyle/>
          <a:p>
            <a:pPr indent="0" marL="0">
              <a:buNone/>
            </a:pPr>
            <a:r>
              <a:rPr lang="en-US" sz="1400" b="1" dirty="0">
                <a:solidFill>
                  <a:srgbClr val="2DA3FF"/>
                </a:solidFill>
                <a:latin typeface="Segoe UI" pitchFamily="34" charset="0"/>
                <a:ea typeface="Segoe UI" pitchFamily="34" charset="-122"/>
                <a:cs typeface="Segoe UI" pitchFamily="34" charset="-120"/>
              </a:rPr>
              <a:t>What a visitor wants</a:t>
            </a:r>
            <a:endParaRPr lang="en-US" sz="1400" dirty="0"/>
          </a:p>
        </p:txBody>
      </p:sp>
      <p:sp>
        <p:nvSpPr>
          <p:cNvPr id="12" name="Shape 10"/>
          <p:cNvSpPr/>
          <p:nvPr/>
        </p:nvSpPr>
        <p:spPr>
          <a:xfrm>
            <a:off x="6629400" y="2468880"/>
            <a:ext cx="4663440" cy="502920"/>
          </a:xfrm>
          <a:prstGeom prst="roundRect">
            <a:avLst>
              <a:gd name="adj" fmla="val 18182"/>
            </a:avLst>
          </a:prstGeom>
          <a:solidFill>
            <a:srgbClr val="121821"/>
          </a:solidFill>
          <a:ln w="25400">
            <a:solidFill>
              <a:srgbClr val="2DA3FF"/>
            </a:solidFill>
            <a:prstDash val="solid"/>
          </a:ln>
        </p:spPr>
      </p:sp>
      <p:sp>
        <p:nvSpPr>
          <p:cNvPr id="13" name="Shape 11"/>
          <p:cNvSpPr/>
          <p:nvPr/>
        </p:nvSpPr>
        <p:spPr>
          <a:xfrm>
            <a:off x="6793992" y="2624328"/>
            <a:ext cx="182880" cy="182880"/>
          </a:xfrm>
          <a:prstGeom prst="ellipse">
            <a:avLst/>
          </a:prstGeom>
          <a:solidFill>
            <a:srgbClr val="0C1016"/>
          </a:solidFill>
          <a:ln w="25400">
            <a:solidFill>
              <a:srgbClr val="2DA3FF"/>
            </a:solidFill>
            <a:prstDash val="solid"/>
          </a:ln>
        </p:spPr>
      </p:sp>
      <p:sp>
        <p:nvSpPr>
          <p:cNvPr id="14" name="Text 12"/>
          <p:cNvSpPr/>
          <p:nvPr/>
        </p:nvSpPr>
        <p:spPr>
          <a:xfrm>
            <a:off x="7132320" y="2468880"/>
            <a:ext cx="3749040" cy="502920"/>
          </a:xfrm>
          <a:prstGeom prst="rect">
            <a:avLst/>
          </a:prstGeom>
          <a:noFill/>
          <a:ln/>
        </p:spPr>
        <p:txBody>
          <a:bodyPr wrap="square" rtlCol="0" anchor="ctr"/>
          <a:lstStyle/>
          <a:p>
            <a:pPr indent="0" marL="0">
              <a:buNone/>
            </a:pPr>
            <a:r>
              <a:rPr lang="en-US" sz="1600" b="1" dirty="0">
                <a:solidFill>
                  <a:srgbClr val="EEF3F9"/>
                </a:solidFill>
                <a:latin typeface="Segoe UI" pitchFamily="34" charset="0"/>
                <a:ea typeface="Segoe UI" pitchFamily="34" charset="-122"/>
                <a:cs typeface="Segoe UI" pitchFamily="34" charset="-120"/>
              </a:rPr>
              <a:t>kitch</a:t>
            </a:r>
            <a:endParaRPr lang="en-US" sz="1600" dirty="0"/>
          </a:p>
        </p:txBody>
      </p:sp>
      <p:sp>
        <p:nvSpPr>
          <p:cNvPr id="15" name="Shape 13"/>
          <p:cNvSpPr/>
          <p:nvPr/>
        </p:nvSpPr>
        <p:spPr>
          <a:xfrm>
            <a:off x="6629400" y="3108960"/>
            <a:ext cx="4663440" cy="1828800"/>
          </a:xfrm>
          <a:prstGeom prst="roundRect">
            <a:avLst>
              <a:gd name="adj" fmla="val 5000"/>
            </a:avLst>
          </a:prstGeom>
          <a:solidFill>
            <a:srgbClr val="0F141C"/>
          </a:solidFill>
          <a:ln w="12700">
            <a:solidFill>
              <a:srgbClr val="243042"/>
            </a:solidFill>
            <a:prstDash val="solid"/>
          </a:ln>
        </p:spPr>
      </p:sp>
      <p:sp>
        <p:nvSpPr>
          <p:cNvPr id="16" name="Shape 14"/>
          <p:cNvSpPr/>
          <p:nvPr/>
        </p:nvSpPr>
        <p:spPr>
          <a:xfrm>
            <a:off x="6702552" y="3200400"/>
            <a:ext cx="4517136" cy="512064"/>
          </a:xfrm>
          <a:prstGeom prst="roundRect">
            <a:avLst>
              <a:gd name="adj" fmla="val 10714"/>
            </a:avLst>
          </a:prstGeom>
          <a:solidFill>
            <a:srgbClr val="16202C"/>
          </a:solidFill>
          <a:ln/>
        </p:spPr>
      </p:sp>
      <p:sp>
        <p:nvSpPr>
          <p:cNvPr id="17" name="Shape 15"/>
          <p:cNvSpPr/>
          <p:nvPr/>
        </p:nvSpPr>
        <p:spPr>
          <a:xfrm>
            <a:off x="6793992" y="3310128"/>
            <a:ext cx="292608" cy="292608"/>
          </a:xfrm>
          <a:prstGeom prst="roundRect">
            <a:avLst>
              <a:gd name="adj" fmla="val 12500"/>
            </a:avLst>
          </a:prstGeom>
          <a:solidFill>
            <a:srgbClr val="27384A"/>
          </a:solidFill>
          <a:ln/>
        </p:spPr>
      </p:sp>
      <p:sp>
        <p:nvSpPr>
          <p:cNvPr id="18" name="Text 16"/>
          <p:cNvSpPr/>
          <p:nvPr/>
        </p:nvSpPr>
        <p:spPr>
          <a:xfrm>
            <a:off x="7196328" y="3236976"/>
            <a:ext cx="2651760" cy="274320"/>
          </a:xfrm>
          <a:prstGeom prst="rect">
            <a:avLst/>
          </a:prstGeom>
          <a:noFill/>
          <a:ln/>
        </p:spPr>
        <p:txBody>
          <a:bodyPr wrap="square" rtlCol="0" anchor="ctr"/>
          <a:lstStyle/>
          <a:p>
            <a:pPr indent="0" marL="0">
              <a:buNone/>
            </a:pPr>
            <a:r>
              <a:rPr lang="en-US" sz="1400" b="1" dirty="0">
                <a:solidFill>
                  <a:srgbClr val="EEF3F9"/>
                </a:solidFill>
                <a:latin typeface="Segoe UI" pitchFamily="34" charset="0"/>
                <a:ea typeface="Segoe UI" pitchFamily="34" charset="-122"/>
                <a:cs typeface="Segoe UI" pitchFamily="34" charset="-120"/>
              </a:rPr>
              <a:t>Kitchen</a:t>
            </a:r>
            <a:endParaRPr lang="en-US" sz="1400" dirty="0"/>
          </a:p>
        </p:txBody>
      </p:sp>
      <p:sp>
        <p:nvSpPr>
          <p:cNvPr id="19" name="Text 17"/>
          <p:cNvSpPr/>
          <p:nvPr/>
        </p:nvSpPr>
        <p:spPr>
          <a:xfrm>
            <a:off x="7196328" y="3474720"/>
            <a:ext cx="2651760" cy="219456"/>
          </a:xfrm>
          <a:prstGeom prst="rect">
            <a:avLst/>
          </a:prstGeom>
          <a:noFill/>
          <a:ln/>
        </p:spPr>
        <p:txBody>
          <a:bodyPr wrap="square" rtlCol="0" anchor="ctr"/>
          <a:lstStyle/>
          <a:p>
            <a:pPr indent="0" marL="0">
              <a:buNone/>
            </a:pPr>
            <a:r>
              <a:rPr lang="en-US" sz="1050" dirty="0">
                <a:solidFill>
                  <a:srgbClr val="9FB2C6"/>
                </a:solidFill>
                <a:latin typeface="Segoe UI" pitchFamily="34" charset="0"/>
                <a:ea typeface="Segoe UI" pitchFamily="34" charset="-122"/>
                <a:cs typeface="Segoe UI" pitchFamily="34" charset="-120"/>
              </a:rPr>
              <a:t>Panorama scene</a:t>
            </a:r>
            <a:endParaRPr lang="en-US" sz="1050" dirty="0"/>
          </a:p>
        </p:txBody>
      </p:sp>
      <p:sp>
        <p:nvSpPr>
          <p:cNvPr id="20" name="Shape 18"/>
          <p:cNvSpPr/>
          <p:nvPr/>
        </p:nvSpPr>
        <p:spPr>
          <a:xfrm>
            <a:off x="9509760" y="3328416"/>
            <a:ext cx="777240" cy="256032"/>
          </a:xfrm>
          <a:prstGeom prst="roundRect">
            <a:avLst>
              <a:gd name="adj" fmla="val 50000"/>
            </a:avLst>
          </a:prstGeom>
          <a:solidFill>
            <a:srgbClr val="123A5C"/>
          </a:solidFill>
          <a:ln/>
        </p:spPr>
      </p:sp>
      <p:sp>
        <p:nvSpPr>
          <p:cNvPr id="21" name="Text 19"/>
          <p:cNvSpPr/>
          <p:nvPr/>
        </p:nvSpPr>
        <p:spPr>
          <a:xfrm>
            <a:off x="9509760" y="3328416"/>
            <a:ext cx="777240" cy="256032"/>
          </a:xfrm>
          <a:prstGeom prst="rect">
            <a:avLst/>
          </a:prstGeom>
          <a:noFill/>
          <a:ln/>
        </p:spPr>
        <p:txBody>
          <a:bodyPr wrap="square" rtlCol="0" anchor="ctr"/>
          <a:lstStyle/>
          <a:p>
            <a:pPr algn="ctr" indent="0" marL="0">
              <a:buNone/>
            </a:pPr>
            <a:r>
              <a:rPr lang="en-US" sz="900" b="1" dirty="0">
                <a:solidFill>
                  <a:srgbClr val="7EC5FF"/>
                </a:solidFill>
                <a:latin typeface="Segoe UI" pitchFamily="34" charset="0"/>
                <a:ea typeface="Segoe UI" pitchFamily="34" charset="-122"/>
                <a:cs typeface="Segoe UI" pitchFamily="34" charset="-120"/>
              </a:rPr>
              <a:t>SCENE</a:t>
            </a:r>
            <a:endParaRPr lang="en-US" sz="900" dirty="0"/>
          </a:p>
        </p:txBody>
      </p:sp>
      <p:sp>
        <p:nvSpPr>
          <p:cNvPr id="22" name="Shape 20"/>
          <p:cNvSpPr/>
          <p:nvPr/>
        </p:nvSpPr>
        <p:spPr>
          <a:xfrm>
            <a:off x="10424160" y="3310128"/>
            <a:ext cx="731520" cy="292608"/>
          </a:xfrm>
          <a:prstGeom prst="roundRect">
            <a:avLst>
              <a:gd name="adj" fmla="val 25000"/>
            </a:avLst>
          </a:prstGeom>
          <a:solidFill>
            <a:srgbClr val="2DA3FF"/>
          </a:solidFill>
          <a:ln/>
        </p:spPr>
      </p:sp>
      <p:sp>
        <p:nvSpPr>
          <p:cNvPr id="23" name="Text 21"/>
          <p:cNvSpPr/>
          <p:nvPr/>
        </p:nvSpPr>
        <p:spPr>
          <a:xfrm>
            <a:off x="10424160" y="3310128"/>
            <a:ext cx="731520" cy="292608"/>
          </a:xfrm>
          <a:prstGeom prst="rect">
            <a:avLst/>
          </a:prstGeom>
          <a:noFill/>
          <a:ln/>
        </p:spPr>
        <p:txBody>
          <a:bodyPr wrap="square" rtlCol="0" anchor="ctr"/>
          <a:lstStyle/>
          <a:p>
            <a:pPr algn="ctr" indent="0" marL="0">
              <a:buNone/>
            </a:pPr>
            <a:r>
              <a:rPr lang="en-US" sz="1000" b="1" dirty="0">
                <a:solidFill>
                  <a:srgbClr val="06121F"/>
                </a:solidFill>
                <a:latin typeface="Segoe UI" pitchFamily="34" charset="0"/>
                <a:ea typeface="Segoe UI" pitchFamily="34" charset="-122"/>
                <a:cs typeface="Segoe UI" pitchFamily="34" charset="-120"/>
              </a:rPr>
              <a:t>Guide</a:t>
            </a:r>
            <a:endParaRPr lang="en-US" sz="1000" dirty="0"/>
          </a:p>
        </p:txBody>
      </p:sp>
      <p:sp>
        <p:nvSpPr>
          <p:cNvPr id="24" name="Shape 22"/>
          <p:cNvSpPr/>
          <p:nvPr/>
        </p:nvSpPr>
        <p:spPr>
          <a:xfrm>
            <a:off x="6793992" y="3858768"/>
            <a:ext cx="292608" cy="292608"/>
          </a:xfrm>
          <a:prstGeom prst="roundRect">
            <a:avLst>
              <a:gd name="adj" fmla="val 12500"/>
            </a:avLst>
          </a:prstGeom>
          <a:solidFill>
            <a:srgbClr val="27384A"/>
          </a:solidFill>
          <a:ln/>
        </p:spPr>
      </p:sp>
      <p:sp>
        <p:nvSpPr>
          <p:cNvPr id="25" name="Text 23"/>
          <p:cNvSpPr/>
          <p:nvPr/>
        </p:nvSpPr>
        <p:spPr>
          <a:xfrm>
            <a:off x="7196328" y="3785616"/>
            <a:ext cx="2651760" cy="274320"/>
          </a:xfrm>
          <a:prstGeom prst="rect">
            <a:avLst/>
          </a:prstGeom>
          <a:noFill/>
          <a:ln/>
        </p:spPr>
        <p:txBody>
          <a:bodyPr wrap="square" rtlCol="0" anchor="ctr"/>
          <a:lstStyle/>
          <a:p>
            <a:pPr indent="0" marL="0">
              <a:buNone/>
            </a:pPr>
            <a:r>
              <a:rPr lang="en-US" sz="1400" b="1" dirty="0">
                <a:solidFill>
                  <a:srgbClr val="EEF3F9"/>
                </a:solidFill>
                <a:latin typeface="Segoe UI" pitchFamily="34" charset="0"/>
                <a:ea typeface="Segoe UI" pitchFamily="34" charset="-122"/>
                <a:cs typeface="Segoe UI" pitchFamily="34" charset="-120"/>
              </a:rPr>
              <a:t>Go to Kitchen</a:t>
            </a:r>
            <a:endParaRPr lang="en-US" sz="1400" dirty="0"/>
          </a:p>
        </p:txBody>
      </p:sp>
      <p:sp>
        <p:nvSpPr>
          <p:cNvPr id="26" name="Text 24"/>
          <p:cNvSpPr/>
          <p:nvPr/>
        </p:nvSpPr>
        <p:spPr>
          <a:xfrm>
            <a:off x="7196328" y="4023360"/>
            <a:ext cx="2651760" cy="219456"/>
          </a:xfrm>
          <a:prstGeom prst="rect">
            <a:avLst/>
          </a:prstGeom>
          <a:noFill/>
          <a:ln/>
        </p:spPr>
        <p:txBody>
          <a:bodyPr wrap="square" rtlCol="0" anchor="ctr"/>
          <a:lstStyle/>
          <a:p>
            <a:pPr indent="0" marL="0">
              <a:buNone/>
            </a:pPr>
            <a:r>
              <a:rPr lang="en-US" sz="1050" dirty="0">
                <a:solidFill>
                  <a:srgbClr val="9FB2C6"/>
                </a:solidFill>
                <a:latin typeface="Segoe UI" pitchFamily="34" charset="0"/>
                <a:ea typeface="Segoe UI" pitchFamily="34" charset="-122"/>
                <a:cs typeface="Segoe UI" pitchFamily="34" charset="-120"/>
              </a:rPr>
              <a:t>in Great Room</a:t>
            </a:r>
            <a:endParaRPr lang="en-US" sz="1050" dirty="0"/>
          </a:p>
        </p:txBody>
      </p:sp>
      <p:sp>
        <p:nvSpPr>
          <p:cNvPr id="27" name="Shape 25"/>
          <p:cNvSpPr/>
          <p:nvPr/>
        </p:nvSpPr>
        <p:spPr>
          <a:xfrm>
            <a:off x="10241280" y="3877056"/>
            <a:ext cx="914400" cy="256032"/>
          </a:xfrm>
          <a:prstGeom prst="roundRect">
            <a:avLst>
              <a:gd name="adj" fmla="val 50000"/>
            </a:avLst>
          </a:prstGeom>
          <a:solidFill>
            <a:srgbClr val="4A2F12"/>
          </a:solidFill>
          <a:ln/>
        </p:spPr>
      </p:sp>
      <p:sp>
        <p:nvSpPr>
          <p:cNvPr id="28" name="Text 26"/>
          <p:cNvSpPr/>
          <p:nvPr/>
        </p:nvSpPr>
        <p:spPr>
          <a:xfrm>
            <a:off x="10241280" y="3877056"/>
            <a:ext cx="914400" cy="256032"/>
          </a:xfrm>
          <a:prstGeom prst="rect">
            <a:avLst/>
          </a:prstGeom>
          <a:noFill/>
          <a:ln/>
        </p:spPr>
        <p:txBody>
          <a:bodyPr wrap="square" rtlCol="0" anchor="ctr"/>
          <a:lstStyle/>
          <a:p>
            <a:pPr algn="ctr" indent="0" marL="0">
              <a:buNone/>
            </a:pPr>
            <a:r>
              <a:rPr lang="en-US" sz="900" b="1" dirty="0">
                <a:solidFill>
                  <a:srgbClr val="F0A85A"/>
                </a:solidFill>
                <a:latin typeface="Segoe UI" pitchFamily="34" charset="0"/>
                <a:ea typeface="Segoe UI" pitchFamily="34" charset="-122"/>
                <a:cs typeface="Segoe UI" pitchFamily="34" charset="-120"/>
              </a:rPr>
              <a:t>HOTSPOT</a:t>
            </a:r>
            <a:endParaRPr lang="en-US" sz="900" dirty="0"/>
          </a:p>
        </p:txBody>
      </p:sp>
      <p:sp>
        <p:nvSpPr>
          <p:cNvPr id="29" name="Shape 27"/>
          <p:cNvSpPr/>
          <p:nvPr/>
        </p:nvSpPr>
        <p:spPr>
          <a:xfrm>
            <a:off x="6793992" y="4407408"/>
            <a:ext cx="292608" cy="292608"/>
          </a:xfrm>
          <a:prstGeom prst="roundRect">
            <a:avLst>
              <a:gd name="adj" fmla="val 12500"/>
            </a:avLst>
          </a:prstGeom>
          <a:solidFill>
            <a:srgbClr val="27384A"/>
          </a:solidFill>
          <a:ln/>
        </p:spPr>
      </p:sp>
      <p:sp>
        <p:nvSpPr>
          <p:cNvPr id="30" name="Text 28"/>
          <p:cNvSpPr/>
          <p:nvPr/>
        </p:nvSpPr>
        <p:spPr>
          <a:xfrm>
            <a:off x="7196328" y="4334256"/>
            <a:ext cx="2651760" cy="274320"/>
          </a:xfrm>
          <a:prstGeom prst="rect">
            <a:avLst/>
          </a:prstGeom>
          <a:noFill/>
          <a:ln/>
        </p:spPr>
        <p:txBody>
          <a:bodyPr wrap="square" rtlCol="0" anchor="ctr"/>
          <a:lstStyle/>
          <a:p>
            <a:pPr indent="0" marL="0">
              <a:buNone/>
            </a:pPr>
            <a:r>
              <a:rPr lang="en-US" sz="1400" b="1" dirty="0">
                <a:solidFill>
                  <a:srgbClr val="EEF3F9"/>
                </a:solidFill>
                <a:latin typeface="Segoe UI" pitchFamily="34" charset="0"/>
                <a:ea typeface="Segoe UI" pitchFamily="34" charset="-122"/>
                <a:cs typeface="Segoe UI" pitchFamily="34" charset="-120"/>
              </a:rPr>
              <a:t>Kohler Prolific</a:t>
            </a:r>
            <a:endParaRPr lang="en-US" sz="1400" dirty="0"/>
          </a:p>
        </p:txBody>
      </p:sp>
      <p:sp>
        <p:nvSpPr>
          <p:cNvPr id="31" name="Text 29"/>
          <p:cNvSpPr/>
          <p:nvPr/>
        </p:nvSpPr>
        <p:spPr>
          <a:xfrm>
            <a:off x="7196328" y="4572000"/>
            <a:ext cx="2651760" cy="219456"/>
          </a:xfrm>
          <a:prstGeom prst="rect">
            <a:avLst/>
          </a:prstGeom>
          <a:noFill/>
          <a:ln/>
        </p:spPr>
        <p:txBody>
          <a:bodyPr wrap="square" rtlCol="0" anchor="ctr"/>
          <a:lstStyle/>
          <a:p>
            <a:pPr indent="0" marL="0">
              <a:buNone/>
            </a:pPr>
            <a:r>
              <a:rPr lang="en-US" sz="1050" dirty="0">
                <a:solidFill>
                  <a:srgbClr val="9FB2C6"/>
                </a:solidFill>
                <a:latin typeface="Segoe UI" pitchFamily="34" charset="0"/>
                <a:ea typeface="Segoe UI" pitchFamily="34" charset="-122"/>
                <a:cs typeface="Segoe UI" pitchFamily="34" charset="-120"/>
              </a:rPr>
              <a:t>in Kitchen</a:t>
            </a:r>
            <a:endParaRPr lang="en-US" sz="1050" dirty="0"/>
          </a:p>
        </p:txBody>
      </p:sp>
      <p:sp>
        <p:nvSpPr>
          <p:cNvPr id="32" name="Shape 30"/>
          <p:cNvSpPr/>
          <p:nvPr/>
        </p:nvSpPr>
        <p:spPr>
          <a:xfrm>
            <a:off x="10241280" y="4425696"/>
            <a:ext cx="914400" cy="256032"/>
          </a:xfrm>
          <a:prstGeom prst="roundRect">
            <a:avLst>
              <a:gd name="adj" fmla="val 50000"/>
            </a:avLst>
          </a:prstGeom>
          <a:solidFill>
            <a:srgbClr val="4A2F12"/>
          </a:solidFill>
          <a:ln/>
        </p:spPr>
      </p:sp>
      <p:sp>
        <p:nvSpPr>
          <p:cNvPr id="33" name="Text 31"/>
          <p:cNvSpPr/>
          <p:nvPr/>
        </p:nvSpPr>
        <p:spPr>
          <a:xfrm>
            <a:off x="10241280" y="4425696"/>
            <a:ext cx="914400" cy="256032"/>
          </a:xfrm>
          <a:prstGeom prst="rect">
            <a:avLst/>
          </a:prstGeom>
          <a:noFill/>
          <a:ln/>
        </p:spPr>
        <p:txBody>
          <a:bodyPr wrap="square" rtlCol="0" anchor="ctr"/>
          <a:lstStyle/>
          <a:p>
            <a:pPr algn="ctr" indent="0" marL="0">
              <a:buNone/>
            </a:pPr>
            <a:r>
              <a:rPr lang="en-US" sz="900" b="1" dirty="0">
                <a:solidFill>
                  <a:srgbClr val="F0A85A"/>
                </a:solidFill>
                <a:latin typeface="Segoe UI" pitchFamily="34" charset="0"/>
                <a:ea typeface="Segoe UI" pitchFamily="34" charset="-122"/>
                <a:cs typeface="Segoe UI" pitchFamily="34" charset="-120"/>
              </a:rPr>
              <a:t>HOTSPOT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THE SOLUTION</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VT Search Builder, in one sentence</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3</a:t>
            </a:r>
            <a:endParaRPr lang="en-US" sz="900" dirty="0"/>
          </a:p>
        </p:txBody>
      </p:sp>
      <p:sp>
        <p:nvSpPr>
          <p:cNvPr id="8" name="Shape 6"/>
          <p:cNvSpPr/>
          <p:nvPr/>
        </p:nvSpPr>
        <p:spPr>
          <a:xfrm>
            <a:off x="548640" y="1783080"/>
            <a:ext cx="11064240" cy="1371600"/>
          </a:xfrm>
          <a:prstGeom prst="roundRect">
            <a:avLst>
              <a:gd name="adj" fmla="val 6000"/>
            </a:avLst>
          </a:prstGeom>
          <a:solidFill>
            <a:srgbClr val="161D27"/>
          </a:solidFill>
          <a:ln w="12700">
            <a:solidFill>
              <a:srgbClr val="243042"/>
            </a:solidFill>
            <a:prstDash val="solid"/>
          </a:ln>
        </p:spPr>
      </p:sp>
      <p:sp>
        <p:nvSpPr>
          <p:cNvPr id="9" name="Text 7"/>
          <p:cNvSpPr/>
          <p:nvPr/>
        </p:nvSpPr>
        <p:spPr>
          <a:xfrm>
            <a:off x="914400" y="1920240"/>
            <a:ext cx="10424160" cy="1097280"/>
          </a:xfrm>
          <a:prstGeom prst="rect">
            <a:avLst/>
          </a:prstGeom>
          <a:noFill/>
          <a:ln/>
        </p:spPr>
        <p:txBody>
          <a:bodyPr wrap="square" rtlCol="0" anchor="ctr"/>
          <a:lstStyle/>
          <a:p>
            <a:pPr indent="0" marL="0">
              <a:lnSpc>
                <a:spcPct val="105000"/>
              </a:lnSpc>
              <a:buNone/>
            </a:pPr>
            <a:r>
              <a:rPr lang="en-US" sz="2200" dirty="0">
                <a:solidFill>
                  <a:srgbClr val="C7D2DE"/>
                </a:solidFill>
                <a:latin typeface="Segoe UI" pitchFamily="34" charset="0"/>
                <a:ea typeface="Segoe UI" pitchFamily="34" charset="-122"/>
                <a:cs typeface="Segoe UI" pitchFamily="34" charset="-120"/>
              </a:rPr>
              <a:t>Drop in your exported tour folder — get back the </a:t>
            </a:r>
            <a:pPr indent="0" marL="0">
              <a:lnSpc>
                <a:spcPct val="105000"/>
              </a:lnSpc>
              <a:buNone/>
            </a:pPr>
            <a:r>
              <a:rPr lang="en-US" sz="2200" b="1" dirty="0">
                <a:solidFill>
                  <a:srgbClr val="2DA3FF"/>
                </a:solidFill>
                <a:latin typeface="Segoe UI" pitchFamily="34" charset="0"/>
                <a:ea typeface="Segoe UI" pitchFamily="34" charset="-122"/>
                <a:cs typeface="Segoe UI" pitchFamily="34" charset="-120"/>
              </a:rPr>
              <a:t>same tour with a search box baked in</a:t>
            </a:r>
            <a:pPr indent="0" marL="0">
              <a:lnSpc>
                <a:spcPct val="105000"/>
              </a:lnSpc>
              <a:buNone/>
            </a:pPr>
            <a:r>
              <a:rPr lang="en-US" sz="2200" dirty="0">
                <a:solidFill>
                  <a:srgbClr val="C7D2D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548640" y="3474720"/>
            <a:ext cx="2606040" cy="2468880"/>
          </a:xfrm>
          <a:prstGeom prst="roundRect">
            <a:avLst>
              <a:gd name="adj" fmla="val 3333"/>
            </a:avLst>
          </a:prstGeom>
          <a:solidFill>
            <a:srgbClr val="161D27"/>
          </a:solidFill>
          <a:ln w="12700">
            <a:solidFill>
              <a:srgbClr val="243042"/>
            </a:solidFill>
            <a:prstDash val="solid"/>
          </a:ln>
        </p:spPr>
      </p:sp>
      <p:sp>
        <p:nvSpPr>
          <p:cNvPr id="11" name="Shape 9"/>
          <p:cNvSpPr/>
          <p:nvPr/>
        </p:nvSpPr>
        <p:spPr>
          <a:xfrm>
            <a:off x="548640" y="3474720"/>
            <a:ext cx="2606040" cy="73152"/>
          </a:xfrm>
          <a:prstGeom prst="rect">
            <a:avLst/>
          </a:prstGeom>
          <a:solidFill>
            <a:srgbClr val="2DA3FF"/>
          </a:solidFill>
          <a:ln/>
        </p:spPr>
      </p:sp>
      <p:sp>
        <p:nvSpPr>
          <p:cNvPr id="12" name="Text 10"/>
          <p:cNvSpPr/>
          <p:nvPr/>
        </p:nvSpPr>
        <p:spPr>
          <a:xfrm>
            <a:off x="749808" y="3703320"/>
            <a:ext cx="2240280" cy="640080"/>
          </a:xfrm>
          <a:prstGeom prst="rect">
            <a:avLst/>
          </a:prstGeom>
          <a:noFill/>
          <a:ln/>
        </p:spPr>
        <p:txBody>
          <a:bodyPr wrap="square" rtlCol="0" anchor="ctr"/>
          <a:lstStyle/>
          <a:p>
            <a:pPr indent="0" marL="0">
              <a:buNone/>
            </a:pPr>
            <a:r>
              <a:rPr lang="en-US" sz="1700" b="1" dirty="0">
                <a:solidFill>
                  <a:srgbClr val="EEF3F9"/>
                </a:solidFill>
                <a:latin typeface="Segoe UI" pitchFamily="34" charset="0"/>
                <a:ea typeface="Segoe UI" pitchFamily="34" charset="-122"/>
                <a:cs typeface="Segoe UI" pitchFamily="34" charset="-120"/>
              </a:rPr>
              <a:t>In your browser</a:t>
            </a:r>
            <a:endParaRPr lang="en-US" sz="1700" dirty="0"/>
          </a:p>
        </p:txBody>
      </p:sp>
      <p:sp>
        <p:nvSpPr>
          <p:cNvPr id="13" name="Text 11"/>
          <p:cNvSpPr/>
          <p:nvPr/>
        </p:nvSpPr>
        <p:spPr>
          <a:xfrm>
            <a:off x="749808" y="4434840"/>
            <a:ext cx="2240280" cy="1280160"/>
          </a:xfrm>
          <a:prstGeom prst="rect">
            <a:avLst/>
          </a:prstGeom>
          <a:noFill/>
          <a:ln/>
        </p:spPr>
        <p:txBody>
          <a:bodyPr wrap="square" rtlCol="0" anchor="t"/>
          <a:lstStyle/>
          <a:p>
            <a:pPr indent="0" marL="0">
              <a:buNone/>
            </a:pPr>
            <a:r>
              <a:rPr lang="en-US" sz="1350" dirty="0">
                <a:solidFill>
                  <a:srgbClr val="9FB2C6"/>
                </a:solidFill>
                <a:latin typeface="Segoe UI" pitchFamily="34" charset="0"/>
                <a:ea typeface="Segoe UI" pitchFamily="34" charset="-122"/>
                <a:cs typeface="Segoe UI" pitchFamily="34" charset="-120"/>
              </a:rPr>
              <a:t>Just open one HTML file. Nothing is installed.</a:t>
            </a:r>
            <a:endParaRPr lang="en-US" sz="1350" dirty="0"/>
          </a:p>
        </p:txBody>
      </p:sp>
      <p:sp>
        <p:nvSpPr>
          <p:cNvPr id="14" name="Shape 12"/>
          <p:cNvSpPr/>
          <p:nvPr/>
        </p:nvSpPr>
        <p:spPr>
          <a:xfrm>
            <a:off x="3401568" y="3474720"/>
            <a:ext cx="2606040" cy="2468880"/>
          </a:xfrm>
          <a:prstGeom prst="roundRect">
            <a:avLst>
              <a:gd name="adj" fmla="val 3333"/>
            </a:avLst>
          </a:prstGeom>
          <a:solidFill>
            <a:srgbClr val="161D27"/>
          </a:solidFill>
          <a:ln w="12700">
            <a:solidFill>
              <a:srgbClr val="243042"/>
            </a:solidFill>
            <a:prstDash val="solid"/>
          </a:ln>
        </p:spPr>
      </p:sp>
      <p:sp>
        <p:nvSpPr>
          <p:cNvPr id="15" name="Shape 13"/>
          <p:cNvSpPr/>
          <p:nvPr/>
        </p:nvSpPr>
        <p:spPr>
          <a:xfrm>
            <a:off x="3401568" y="3474720"/>
            <a:ext cx="2606040" cy="73152"/>
          </a:xfrm>
          <a:prstGeom prst="rect">
            <a:avLst/>
          </a:prstGeom>
          <a:solidFill>
            <a:srgbClr val="2DA3FF"/>
          </a:solidFill>
          <a:ln/>
        </p:spPr>
      </p:sp>
      <p:sp>
        <p:nvSpPr>
          <p:cNvPr id="16" name="Text 14"/>
          <p:cNvSpPr/>
          <p:nvPr/>
        </p:nvSpPr>
        <p:spPr>
          <a:xfrm>
            <a:off x="3602736" y="3703320"/>
            <a:ext cx="2240280" cy="640080"/>
          </a:xfrm>
          <a:prstGeom prst="rect">
            <a:avLst/>
          </a:prstGeom>
          <a:noFill/>
          <a:ln/>
        </p:spPr>
        <p:txBody>
          <a:bodyPr wrap="square" rtlCol="0" anchor="ctr"/>
          <a:lstStyle/>
          <a:p>
            <a:pPr indent="0" marL="0">
              <a:buNone/>
            </a:pPr>
            <a:r>
              <a:rPr lang="en-US" sz="1700" b="1" dirty="0">
                <a:solidFill>
                  <a:srgbClr val="EEF3F9"/>
                </a:solidFill>
                <a:latin typeface="Segoe UI" pitchFamily="34" charset="0"/>
                <a:ea typeface="Segoe UI" pitchFamily="34" charset="-122"/>
                <a:cs typeface="Segoe UI" pitchFamily="34" charset="-120"/>
              </a:rPr>
              <a:t>Nothing uploaded</a:t>
            </a:r>
            <a:endParaRPr lang="en-US" sz="1700" dirty="0"/>
          </a:p>
        </p:txBody>
      </p:sp>
      <p:sp>
        <p:nvSpPr>
          <p:cNvPr id="17" name="Text 15"/>
          <p:cNvSpPr/>
          <p:nvPr/>
        </p:nvSpPr>
        <p:spPr>
          <a:xfrm>
            <a:off x="3602736" y="4434840"/>
            <a:ext cx="2240280" cy="1280160"/>
          </a:xfrm>
          <a:prstGeom prst="rect">
            <a:avLst/>
          </a:prstGeom>
          <a:noFill/>
          <a:ln/>
        </p:spPr>
        <p:txBody>
          <a:bodyPr wrap="square" rtlCol="0" anchor="t"/>
          <a:lstStyle/>
          <a:p>
            <a:pPr indent="0" marL="0">
              <a:buNone/>
            </a:pPr>
            <a:r>
              <a:rPr lang="en-US" sz="1350" dirty="0">
                <a:solidFill>
                  <a:srgbClr val="9FB2C6"/>
                </a:solidFill>
                <a:latin typeface="Segoe UI" pitchFamily="34" charset="0"/>
                <a:ea typeface="Segoe UI" pitchFamily="34" charset="-122"/>
                <a:cs typeface="Segoe UI" pitchFamily="34" charset="-120"/>
              </a:rPr>
              <a:t>Your tour never leaves your computer.</a:t>
            </a:r>
            <a:endParaRPr lang="en-US" sz="1350" dirty="0"/>
          </a:p>
        </p:txBody>
      </p:sp>
      <p:sp>
        <p:nvSpPr>
          <p:cNvPr id="18" name="Shape 16"/>
          <p:cNvSpPr/>
          <p:nvPr/>
        </p:nvSpPr>
        <p:spPr>
          <a:xfrm>
            <a:off x="6254496" y="3474720"/>
            <a:ext cx="2606040" cy="2468880"/>
          </a:xfrm>
          <a:prstGeom prst="roundRect">
            <a:avLst>
              <a:gd name="adj" fmla="val 3333"/>
            </a:avLst>
          </a:prstGeom>
          <a:solidFill>
            <a:srgbClr val="161D27"/>
          </a:solidFill>
          <a:ln w="12700">
            <a:solidFill>
              <a:srgbClr val="243042"/>
            </a:solidFill>
            <a:prstDash val="solid"/>
          </a:ln>
        </p:spPr>
      </p:sp>
      <p:sp>
        <p:nvSpPr>
          <p:cNvPr id="19" name="Shape 17"/>
          <p:cNvSpPr/>
          <p:nvPr/>
        </p:nvSpPr>
        <p:spPr>
          <a:xfrm>
            <a:off x="6254496" y="3474720"/>
            <a:ext cx="2606040" cy="73152"/>
          </a:xfrm>
          <a:prstGeom prst="rect">
            <a:avLst/>
          </a:prstGeom>
          <a:solidFill>
            <a:srgbClr val="2DA3FF"/>
          </a:solidFill>
          <a:ln/>
        </p:spPr>
      </p:sp>
      <p:sp>
        <p:nvSpPr>
          <p:cNvPr id="20" name="Text 18"/>
          <p:cNvSpPr/>
          <p:nvPr/>
        </p:nvSpPr>
        <p:spPr>
          <a:xfrm>
            <a:off x="6455664" y="3703320"/>
            <a:ext cx="2240280" cy="640080"/>
          </a:xfrm>
          <a:prstGeom prst="rect">
            <a:avLst/>
          </a:prstGeom>
          <a:noFill/>
          <a:ln/>
        </p:spPr>
        <p:txBody>
          <a:bodyPr wrap="square" rtlCol="0" anchor="ctr"/>
          <a:lstStyle/>
          <a:p>
            <a:pPr indent="0" marL="0">
              <a:buNone/>
            </a:pPr>
            <a:r>
              <a:rPr lang="en-US" sz="1700" b="1" dirty="0">
                <a:solidFill>
                  <a:srgbClr val="EEF3F9"/>
                </a:solidFill>
                <a:latin typeface="Segoe UI" pitchFamily="34" charset="0"/>
                <a:ea typeface="Segoe UI" pitchFamily="34" charset="-122"/>
                <a:cs typeface="Segoe UI" pitchFamily="34" charset="-120"/>
              </a:rPr>
              <a:t>Online or offline</a:t>
            </a:r>
            <a:endParaRPr lang="en-US" sz="1700" dirty="0"/>
          </a:p>
        </p:txBody>
      </p:sp>
      <p:sp>
        <p:nvSpPr>
          <p:cNvPr id="21" name="Text 19"/>
          <p:cNvSpPr/>
          <p:nvPr/>
        </p:nvSpPr>
        <p:spPr>
          <a:xfrm>
            <a:off x="6455664" y="4434840"/>
            <a:ext cx="2240280" cy="1280160"/>
          </a:xfrm>
          <a:prstGeom prst="rect">
            <a:avLst/>
          </a:prstGeom>
          <a:noFill/>
          <a:ln/>
        </p:spPr>
        <p:txBody>
          <a:bodyPr wrap="square" rtlCol="0" anchor="t"/>
          <a:lstStyle/>
          <a:p>
            <a:pPr indent="0" marL="0">
              <a:buNone/>
            </a:pPr>
            <a:r>
              <a:rPr lang="en-US" sz="1350" dirty="0">
                <a:solidFill>
                  <a:srgbClr val="9FB2C6"/>
                </a:solidFill>
                <a:latin typeface="Segoe UI" pitchFamily="34" charset="0"/>
                <a:ea typeface="Segoe UI" pitchFamily="34" charset="-122"/>
                <a:cs typeface="Segoe UI" pitchFamily="34" charset="-120"/>
              </a:rPr>
              <a:t>Plain JavaScript that drives the tour's own player.</a:t>
            </a:r>
            <a:endParaRPr lang="en-US" sz="1350" dirty="0"/>
          </a:p>
        </p:txBody>
      </p:sp>
      <p:sp>
        <p:nvSpPr>
          <p:cNvPr id="22" name="Shape 20"/>
          <p:cNvSpPr/>
          <p:nvPr/>
        </p:nvSpPr>
        <p:spPr>
          <a:xfrm>
            <a:off x="9107424" y="3474720"/>
            <a:ext cx="2606040" cy="2468880"/>
          </a:xfrm>
          <a:prstGeom prst="roundRect">
            <a:avLst>
              <a:gd name="adj" fmla="val 3333"/>
            </a:avLst>
          </a:prstGeom>
          <a:solidFill>
            <a:srgbClr val="161D27"/>
          </a:solidFill>
          <a:ln w="12700">
            <a:solidFill>
              <a:srgbClr val="243042"/>
            </a:solidFill>
            <a:prstDash val="solid"/>
          </a:ln>
        </p:spPr>
      </p:sp>
      <p:sp>
        <p:nvSpPr>
          <p:cNvPr id="23" name="Shape 21"/>
          <p:cNvSpPr/>
          <p:nvPr/>
        </p:nvSpPr>
        <p:spPr>
          <a:xfrm>
            <a:off x="9107424" y="3474720"/>
            <a:ext cx="2606040" cy="73152"/>
          </a:xfrm>
          <a:prstGeom prst="rect">
            <a:avLst/>
          </a:prstGeom>
          <a:solidFill>
            <a:srgbClr val="2DA3FF"/>
          </a:solidFill>
          <a:ln/>
        </p:spPr>
      </p:sp>
      <p:sp>
        <p:nvSpPr>
          <p:cNvPr id="24" name="Text 22"/>
          <p:cNvSpPr/>
          <p:nvPr/>
        </p:nvSpPr>
        <p:spPr>
          <a:xfrm>
            <a:off x="9308592" y="3703320"/>
            <a:ext cx="2240280" cy="640080"/>
          </a:xfrm>
          <a:prstGeom prst="rect">
            <a:avLst/>
          </a:prstGeom>
          <a:noFill/>
          <a:ln/>
        </p:spPr>
        <p:txBody>
          <a:bodyPr wrap="square" rtlCol="0" anchor="ctr"/>
          <a:lstStyle/>
          <a:p>
            <a:pPr indent="0" marL="0">
              <a:buNone/>
            </a:pPr>
            <a:r>
              <a:rPr lang="en-US" sz="1700" b="1" dirty="0">
                <a:solidFill>
                  <a:srgbClr val="EEF3F9"/>
                </a:solidFill>
                <a:latin typeface="Segoe UI" pitchFamily="34" charset="0"/>
                <a:ea typeface="Segoe UI" pitchFamily="34" charset="-122"/>
                <a:cs typeface="Segoe UI" pitchFamily="34" charset="-120"/>
              </a:rPr>
              <a:t>Any 3DVista tour</a:t>
            </a:r>
            <a:endParaRPr lang="en-US" sz="1700" dirty="0"/>
          </a:p>
        </p:txBody>
      </p:sp>
      <p:sp>
        <p:nvSpPr>
          <p:cNvPr id="25" name="Text 23"/>
          <p:cNvSpPr/>
          <p:nvPr/>
        </p:nvSpPr>
        <p:spPr>
          <a:xfrm>
            <a:off x="9308592" y="4434840"/>
            <a:ext cx="2240280" cy="1280160"/>
          </a:xfrm>
          <a:prstGeom prst="rect">
            <a:avLst/>
          </a:prstGeom>
          <a:noFill/>
          <a:ln/>
        </p:spPr>
        <p:txBody>
          <a:bodyPr wrap="square" rtlCol="0" anchor="t"/>
          <a:lstStyle/>
          <a:p>
            <a:pPr indent="0" marL="0">
              <a:buNone/>
            </a:pPr>
            <a:r>
              <a:rPr lang="en-US" sz="1350" dirty="0">
                <a:solidFill>
                  <a:srgbClr val="9FB2C6"/>
                </a:solidFill>
                <a:latin typeface="Segoe UI" pitchFamily="34" charset="0"/>
                <a:ea typeface="Segoe UI" pitchFamily="34" charset="-122"/>
                <a:cs typeface="Segoe UI" pitchFamily="34" charset="-120"/>
              </a:rPr>
              <a:t>Re-run it once per tour — works on all of them.</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THE BIG PICTURE</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Three steps, no editing</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4</a:t>
            </a:r>
            <a:endParaRPr lang="en-US" sz="900" dirty="0"/>
          </a:p>
        </p:txBody>
      </p:sp>
      <p:sp>
        <p:nvSpPr>
          <p:cNvPr id="8" name="Shape 6"/>
          <p:cNvSpPr/>
          <p:nvPr/>
        </p:nvSpPr>
        <p:spPr>
          <a:xfrm>
            <a:off x="516636" y="2194560"/>
            <a:ext cx="3383280" cy="2286000"/>
          </a:xfrm>
          <a:prstGeom prst="roundRect">
            <a:avLst>
              <a:gd name="adj" fmla="val 3600"/>
            </a:avLst>
          </a:prstGeom>
          <a:solidFill>
            <a:srgbClr val="161D27"/>
          </a:solidFill>
          <a:ln w="12700">
            <a:solidFill>
              <a:srgbClr val="243042"/>
            </a:solidFill>
            <a:prstDash val="solid"/>
          </a:ln>
        </p:spPr>
      </p:sp>
      <p:sp>
        <p:nvSpPr>
          <p:cNvPr id="9" name="Shape 7"/>
          <p:cNvSpPr/>
          <p:nvPr/>
        </p:nvSpPr>
        <p:spPr>
          <a:xfrm>
            <a:off x="790956" y="2468880"/>
            <a:ext cx="640080" cy="640080"/>
          </a:xfrm>
          <a:prstGeom prst="ellipse">
            <a:avLst/>
          </a:prstGeom>
          <a:solidFill>
            <a:srgbClr val="123A5C"/>
          </a:solidFill>
          <a:ln/>
        </p:spPr>
      </p:sp>
      <p:sp>
        <p:nvSpPr>
          <p:cNvPr id="10" name="Text 8"/>
          <p:cNvSpPr/>
          <p:nvPr/>
        </p:nvSpPr>
        <p:spPr>
          <a:xfrm>
            <a:off x="790956" y="2468880"/>
            <a:ext cx="640080" cy="640080"/>
          </a:xfrm>
          <a:prstGeom prst="rect">
            <a:avLst/>
          </a:prstGeom>
          <a:noFill/>
          <a:ln/>
        </p:spPr>
        <p:txBody>
          <a:bodyPr wrap="square" rtlCol="0" anchor="ctr"/>
          <a:lstStyle/>
          <a:p>
            <a:pPr algn="ctr" indent="0" marL="0">
              <a:buNone/>
            </a:pPr>
            <a:r>
              <a:rPr lang="en-US" sz="2400" b="1" dirty="0">
                <a:solidFill>
                  <a:srgbClr val="2DA3FF"/>
                </a:solidFill>
                <a:latin typeface="Segoe UI" pitchFamily="34" charset="0"/>
                <a:ea typeface="Segoe UI" pitchFamily="34" charset="-122"/>
                <a:cs typeface="Segoe UI" pitchFamily="34" charset="-120"/>
              </a:rPr>
              <a:t>1</a:t>
            </a:r>
            <a:endParaRPr lang="en-US" sz="2400" dirty="0"/>
          </a:p>
        </p:txBody>
      </p:sp>
      <p:sp>
        <p:nvSpPr>
          <p:cNvPr id="11" name="Text 9"/>
          <p:cNvSpPr/>
          <p:nvPr/>
        </p:nvSpPr>
        <p:spPr>
          <a:xfrm>
            <a:off x="1568196" y="2505456"/>
            <a:ext cx="2194560" cy="457200"/>
          </a:xfrm>
          <a:prstGeom prst="rect">
            <a:avLst/>
          </a:prstGeom>
          <a:noFill/>
          <a:ln/>
        </p:spPr>
        <p:txBody>
          <a:bodyPr wrap="square" rtlCol="0" anchor="ctr"/>
          <a:lstStyle/>
          <a:p>
            <a:pPr indent="0" marL="0">
              <a:buNone/>
            </a:pPr>
            <a:r>
              <a:rPr lang="en-US" sz="2000" b="1" dirty="0">
                <a:solidFill>
                  <a:srgbClr val="EEF3F9"/>
                </a:solidFill>
                <a:latin typeface="Segoe UI" pitchFamily="34" charset="0"/>
                <a:ea typeface="Segoe UI" pitchFamily="34" charset="-122"/>
                <a:cs typeface="Segoe UI" pitchFamily="34" charset="-120"/>
              </a:rPr>
              <a:t>Load tour</a:t>
            </a:r>
            <a:endParaRPr lang="en-US" sz="2000" dirty="0"/>
          </a:p>
        </p:txBody>
      </p:sp>
      <p:sp>
        <p:nvSpPr>
          <p:cNvPr id="12" name="Text 10"/>
          <p:cNvSpPr/>
          <p:nvPr/>
        </p:nvSpPr>
        <p:spPr>
          <a:xfrm>
            <a:off x="809244" y="3291840"/>
            <a:ext cx="2834640" cy="1005840"/>
          </a:xfrm>
          <a:prstGeom prst="rect">
            <a:avLst/>
          </a:prstGeom>
          <a:noFill/>
          <a:ln/>
        </p:spPr>
        <p:txBody>
          <a:bodyPr wrap="square" rtlCol="0" anchor="t"/>
          <a:lstStyle/>
          <a:p>
            <a:pPr indent="0" marL="0">
              <a:buNone/>
            </a:pPr>
            <a:r>
              <a:rPr lang="en-US" sz="1400" dirty="0">
                <a:solidFill>
                  <a:srgbClr val="9FB2C6"/>
                </a:solidFill>
                <a:latin typeface="Segoe UI" pitchFamily="34" charset="0"/>
                <a:ea typeface="Segoe UI" pitchFamily="34" charset="-122"/>
                <a:cs typeface="Segoe UI" pitchFamily="34" charset="-120"/>
              </a:rPr>
              <a:t>Drop your 3DVista export folder</a:t>
            </a:r>
            <a:endParaRPr lang="en-US" sz="1400" dirty="0"/>
          </a:p>
        </p:txBody>
      </p:sp>
      <p:sp>
        <p:nvSpPr>
          <p:cNvPr id="13" name="Shape 11"/>
          <p:cNvSpPr/>
          <p:nvPr/>
        </p:nvSpPr>
        <p:spPr>
          <a:xfrm>
            <a:off x="3973068" y="3337560"/>
            <a:ext cx="356616" cy="0"/>
          </a:xfrm>
          <a:prstGeom prst="line">
            <a:avLst/>
          </a:prstGeom>
          <a:noFill/>
          <a:ln w="31750">
            <a:solidFill>
              <a:srgbClr val="2DA3FF"/>
            </a:solidFill>
            <a:prstDash val="solid"/>
            <a:tailEnd type="triangle"/>
          </a:ln>
        </p:spPr>
      </p:sp>
      <p:sp>
        <p:nvSpPr>
          <p:cNvPr id="14" name="Shape 12"/>
          <p:cNvSpPr/>
          <p:nvPr/>
        </p:nvSpPr>
        <p:spPr>
          <a:xfrm>
            <a:off x="4402836" y="2194560"/>
            <a:ext cx="3383280" cy="2286000"/>
          </a:xfrm>
          <a:prstGeom prst="roundRect">
            <a:avLst>
              <a:gd name="adj" fmla="val 3600"/>
            </a:avLst>
          </a:prstGeom>
          <a:solidFill>
            <a:srgbClr val="161D27"/>
          </a:solidFill>
          <a:ln w="12700">
            <a:solidFill>
              <a:srgbClr val="243042"/>
            </a:solidFill>
            <a:prstDash val="solid"/>
          </a:ln>
        </p:spPr>
      </p:sp>
      <p:sp>
        <p:nvSpPr>
          <p:cNvPr id="15" name="Shape 13"/>
          <p:cNvSpPr/>
          <p:nvPr/>
        </p:nvSpPr>
        <p:spPr>
          <a:xfrm>
            <a:off x="4677156" y="2468880"/>
            <a:ext cx="640080" cy="640080"/>
          </a:xfrm>
          <a:prstGeom prst="ellipse">
            <a:avLst/>
          </a:prstGeom>
          <a:solidFill>
            <a:srgbClr val="123A5C"/>
          </a:solidFill>
          <a:ln/>
        </p:spPr>
      </p:sp>
      <p:sp>
        <p:nvSpPr>
          <p:cNvPr id="16" name="Text 14"/>
          <p:cNvSpPr/>
          <p:nvPr/>
        </p:nvSpPr>
        <p:spPr>
          <a:xfrm>
            <a:off x="4677156" y="2468880"/>
            <a:ext cx="640080" cy="640080"/>
          </a:xfrm>
          <a:prstGeom prst="rect">
            <a:avLst/>
          </a:prstGeom>
          <a:noFill/>
          <a:ln/>
        </p:spPr>
        <p:txBody>
          <a:bodyPr wrap="square" rtlCol="0" anchor="ctr"/>
          <a:lstStyle/>
          <a:p>
            <a:pPr algn="ctr" indent="0" marL="0">
              <a:buNone/>
            </a:pPr>
            <a:r>
              <a:rPr lang="en-US" sz="2400" b="1" dirty="0">
                <a:solidFill>
                  <a:srgbClr val="2DA3FF"/>
                </a:solidFill>
                <a:latin typeface="Segoe UI" pitchFamily="34" charset="0"/>
                <a:ea typeface="Segoe UI" pitchFamily="34" charset="-122"/>
                <a:cs typeface="Segoe UI" pitchFamily="34" charset="-120"/>
              </a:rPr>
              <a:t>2</a:t>
            </a:r>
            <a:endParaRPr lang="en-US" sz="2400" dirty="0"/>
          </a:p>
        </p:txBody>
      </p:sp>
      <p:sp>
        <p:nvSpPr>
          <p:cNvPr id="17" name="Text 15"/>
          <p:cNvSpPr/>
          <p:nvPr/>
        </p:nvSpPr>
        <p:spPr>
          <a:xfrm>
            <a:off x="5454396" y="2505456"/>
            <a:ext cx="2194560" cy="457200"/>
          </a:xfrm>
          <a:prstGeom prst="rect">
            <a:avLst/>
          </a:prstGeom>
          <a:noFill/>
          <a:ln/>
        </p:spPr>
        <p:txBody>
          <a:bodyPr wrap="square" rtlCol="0" anchor="ctr"/>
          <a:lstStyle/>
          <a:p>
            <a:pPr indent="0" marL="0">
              <a:buNone/>
            </a:pPr>
            <a:r>
              <a:rPr lang="en-US" sz="2000" b="1" dirty="0">
                <a:solidFill>
                  <a:srgbClr val="EEF3F9"/>
                </a:solidFill>
                <a:latin typeface="Segoe UI" pitchFamily="34" charset="0"/>
                <a:ea typeface="Segoe UI" pitchFamily="34" charset="-122"/>
                <a:cs typeface="Segoe UI" pitchFamily="34" charset="-120"/>
              </a:rPr>
              <a:t>Configure</a:t>
            </a:r>
            <a:endParaRPr lang="en-US" sz="2000" dirty="0"/>
          </a:p>
        </p:txBody>
      </p:sp>
      <p:sp>
        <p:nvSpPr>
          <p:cNvPr id="18" name="Text 16"/>
          <p:cNvSpPr/>
          <p:nvPr/>
        </p:nvSpPr>
        <p:spPr>
          <a:xfrm>
            <a:off x="4695444" y="3291840"/>
            <a:ext cx="2834640" cy="1005840"/>
          </a:xfrm>
          <a:prstGeom prst="rect">
            <a:avLst/>
          </a:prstGeom>
          <a:noFill/>
          <a:ln/>
        </p:spPr>
        <p:txBody>
          <a:bodyPr wrap="square" rtlCol="0" anchor="t"/>
          <a:lstStyle/>
          <a:p>
            <a:pPr indent="0" marL="0">
              <a:buNone/>
            </a:pPr>
            <a:r>
              <a:rPr lang="en-US" sz="1400" dirty="0">
                <a:solidFill>
                  <a:srgbClr val="9FB2C6"/>
                </a:solidFill>
                <a:latin typeface="Segoe UI" pitchFamily="34" charset="0"/>
                <a:ea typeface="Segoe UI" pitchFamily="34" charset="-122"/>
                <a:cs typeface="Segoe UI" pitchFamily="34" charset="-120"/>
              </a:rPr>
              <a:t>Types · rename · keywords · style</a:t>
            </a:r>
            <a:endParaRPr lang="en-US" sz="1400" dirty="0"/>
          </a:p>
        </p:txBody>
      </p:sp>
      <p:sp>
        <p:nvSpPr>
          <p:cNvPr id="19" name="Shape 17"/>
          <p:cNvSpPr/>
          <p:nvPr/>
        </p:nvSpPr>
        <p:spPr>
          <a:xfrm>
            <a:off x="7859268" y="3337560"/>
            <a:ext cx="356616" cy="0"/>
          </a:xfrm>
          <a:prstGeom prst="line">
            <a:avLst/>
          </a:prstGeom>
          <a:noFill/>
          <a:ln w="31750">
            <a:solidFill>
              <a:srgbClr val="2DA3FF"/>
            </a:solidFill>
            <a:prstDash val="solid"/>
            <a:tailEnd type="triangle"/>
          </a:ln>
        </p:spPr>
      </p:sp>
      <p:sp>
        <p:nvSpPr>
          <p:cNvPr id="20" name="Shape 18"/>
          <p:cNvSpPr/>
          <p:nvPr/>
        </p:nvSpPr>
        <p:spPr>
          <a:xfrm>
            <a:off x="8289036" y="2194560"/>
            <a:ext cx="3383280" cy="2286000"/>
          </a:xfrm>
          <a:prstGeom prst="roundRect">
            <a:avLst>
              <a:gd name="adj" fmla="val 3600"/>
            </a:avLst>
          </a:prstGeom>
          <a:solidFill>
            <a:srgbClr val="161D27"/>
          </a:solidFill>
          <a:ln w="12700">
            <a:solidFill>
              <a:srgbClr val="243042"/>
            </a:solidFill>
            <a:prstDash val="solid"/>
          </a:ln>
        </p:spPr>
      </p:sp>
      <p:sp>
        <p:nvSpPr>
          <p:cNvPr id="21" name="Shape 19"/>
          <p:cNvSpPr/>
          <p:nvPr/>
        </p:nvSpPr>
        <p:spPr>
          <a:xfrm>
            <a:off x="8563356" y="2468880"/>
            <a:ext cx="640080" cy="640080"/>
          </a:xfrm>
          <a:prstGeom prst="ellipse">
            <a:avLst/>
          </a:prstGeom>
          <a:solidFill>
            <a:srgbClr val="123A5C"/>
          </a:solidFill>
          <a:ln/>
        </p:spPr>
      </p:sp>
      <p:sp>
        <p:nvSpPr>
          <p:cNvPr id="22" name="Text 20"/>
          <p:cNvSpPr/>
          <p:nvPr/>
        </p:nvSpPr>
        <p:spPr>
          <a:xfrm>
            <a:off x="8563356" y="2468880"/>
            <a:ext cx="640080" cy="640080"/>
          </a:xfrm>
          <a:prstGeom prst="rect">
            <a:avLst/>
          </a:prstGeom>
          <a:noFill/>
          <a:ln/>
        </p:spPr>
        <p:txBody>
          <a:bodyPr wrap="square" rtlCol="0" anchor="ctr"/>
          <a:lstStyle/>
          <a:p>
            <a:pPr algn="ctr" indent="0" marL="0">
              <a:buNone/>
            </a:pPr>
            <a:r>
              <a:rPr lang="en-US" sz="2400" b="1" dirty="0">
                <a:solidFill>
                  <a:srgbClr val="36D17A"/>
                </a:solidFill>
                <a:latin typeface="Segoe UI" pitchFamily="34" charset="0"/>
                <a:ea typeface="Segoe UI" pitchFamily="34" charset="-122"/>
                <a:cs typeface="Segoe UI" pitchFamily="34" charset="-120"/>
              </a:rPr>
              <a:t>3</a:t>
            </a:r>
            <a:endParaRPr lang="en-US" sz="2400" dirty="0"/>
          </a:p>
        </p:txBody>
      </p:sp>
      <p:sp>
        <p:nvSpPr>
          <p:cNvPr id="23" name="Text 21"/>
          <p:cNvSpPr/>
          <p:nvPr/>
        </p:nvSpPr>
        <p:spPr>
          <a:xfrm>
            <a:off x="9340596" y="2505456"/>
            <a:ext cx="2194560" cy="457200"/>
          </a:xfrm>
          <a:prstGeom prst="rect">
            <a:avLst/>
          </a:prstGeom>
          <a:noFill/>
          <a:ln/>
        </p:spPr>
        <p:txBody>
          <a:bodyPr wrap="square" rtlCol="0" anchor="ctr"/>
          <a:lstStyle/>
          <a:p>
            <a:pPr indent="0" marL="0">
              <a:buNone/>
            </a:pPr>
            <a:r>
              <a:rPr lang="en-US" sz="2000" b="1" dirty="0">
                <a:solidFill>
                  <a:srgbClr val="EEF3F9"/>
                </a:solidFill>
                <a:latin typeface="Segoe UI" pitchFamily="34" charset="0"/>
                <a:ea typeface="Segoe UI" pitchFamily="34" charset="-122"/>
                <a:cs typeface="Segoe UI" pitchFamily="34" charset="-120"/>
              </a:rPr>
              <a:t>Export</a:t>
            </a:r>
            <a:endParaRPr lang="en-US" sz="2000" dirty="0"/>
          </a:p>
        </p:txBody>
      </p:sp>
      <p:sp>
        <p:nvSpPr>
          <p:cNvPr id="24" name="Text 22"/>
          <p:cNvSpPr/>
          <p:nvPr/>
        </p:nvSpPr>
        <p:spPr>
          <a:xfrm>
            <a:off x="8581644" y="3291840"/>
            <a:ext cx="2834640" cy="1005840"/>
          </a:xfrm>
          <a:prstGeom prst="rect">
            <a:avLst/>
          </a:prstGeom>
          <a:noFill/>
          <a:ln/>
        </p:spPr>
        <p:txBody>
          <a:bodyPr wrap="square" rtlCol="0" anchor="t"/>
          <a:lstStyle/>
          <a:p>
            <a:pPr indent="0" marL="0">
              <a:buNone/>
            </a:pPr>
            <a:r>
              <a:rPr lang="en-US" sz="1400" dirty="0">
                <a:solidFill>
                  <a:srgbClr val="9FB2C6"/>
                </a:solidFill>
                <a:latin typeface="Segoe UI" pitchFamily="34" charset="0"/>
                <a:ea typeface="Segoe UI" pitchFamily="34" charset="-122"/>
                <a:cs typeface="Segoe UI" pitchFamily="34" charset="-120"/>
              </a:rPr>
              <a:t>One-click ready-to-publish .zip</a:t>
            </a:r>
            <a:endParaRPr lang="en-US" sz="1400" dirty="0"/>
          </a:p>
        </p:txBody>
      </p:sp>
      <p:sp>
        <p:nvSpPr>
          <p:cNvPr id="25" name="Text 23"/>
          <p:cNvSpPr/>
          <p:nvPr/>
        </p:nvSpPr>
        <p:spPr>
          <a:xfrm>
            <a:off x="548640" y="5212080"/>
            <a:ext cx="11064240" cy="548640"/>
          </a:xfrm>
          <a:prstGeom prst="rect">
            <a:avLst/>
          </a:prstGeom>
          <a:noFill/>
          <a:ln/>
        </p:spPr>
        <p:txBody>
          <a:bodyPr wrap="square" rtlCol="0" anchor="ctr"/>
          <a:lstStyle/>
          <a:p>
            <a:pPr algn="ctr" indent="0" marL="0">
              <a:buNone/>
            </a:pPr>
            <a:r>
              <a:rPr lang="en-US" sz="1600" dirty="0">
                <a:solidFill>
                  <a:srgbClr val="C7D2DE"/>
                </a:solidFill>
                <a:latin typeface="Segoe UI" pitchFamily="34" charset="0"/>
                <a:ea typeface="Segoe UI" pitchFamily="34" charset="-122"/>
                <a:cs typeface="Segoe UI" pitchFamily="34" charset="-120"/>
              </a:rPr>
              <a:t>You never touch any code. Unzip the result, upload the folder (or open it locally) — done.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STEP 1 · LOAD</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Drop in your exported tour folder</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5</a:t>
            </a:r>
            <a:endParaRPr lang="en-US" sz="900" dirty="0"/>
          </a:p>
        </p:txBody>
      </p:sp>
      <p:sp>
        <p:nvSpPr>
          <p:cNvPr id="8" name="Text 6"/>
          <p:cNvSpPr/>
          <p:nvPr/>
        </p:nvSpPr>
        <p:spPr>
          <a:xfrm>
            <a:off x="822960" y="1920240"/>
            <a:ext cx="5760720" cy="4206240"/>
          </a:xfrm>
          <a:prstGeom prst="rect">
            <a:avLst/>
          </a:prstGeom>
          <a:noFill/>
          <a:ln/>
        </p:spPr>
        <p:txBody>
          <a:bodyPr wrap="square" rtlCol="0" anchor="t"/>
          <a:lstStyle/>
          <a:p>
            <a:pPr marL="203200" indent="-203200">
              <a:lnSpc>
                <a:spcPct val="104000"/>
              </a:lnSpc>
              <a:spcAft>
                <a:spcPts val="1300"/>
              </a:spcAft>
              <a:buSzPct val="100000"/>
              <a:buChar char="•"/>
            </a:pPr>
            <a:r>
              <a:rPr lang="en-US" sz="1600" b="1" dirty="0">
                <a:solidFill>
                  <a:srgbClr val="EEF3F9"/>
                </a:solidFill>
                <a:latin typeface="Segoe UI" pitchFamily="34" charset="0"/>
                <a:ea typeface="Segoe UI" pitchFamily="34" charset="-122"/>
                <a:cs typeface="Segoe UI" pitchFamily="34" charset="-120"/>
              </a:rPr>
              <a:t>Open VT-Search-Builder.html (double-click — it's a single file).</a:t>
            </a:r>
            <a:endParaRPr lang="en-US" sz="1600" dirty="0"/>
          </a:p>
          <a:p>
            <a:pPr marL="203200" indent="-203200">
              <a:lnSpc>
                <a:spcPct val="104000"/>
              </a:lnSpc>
              <a:spcAft>
                <a:spcPts val="1300"/>
              </a:spcAft>
              <a:buSzPct val="100000"/>
              <a:buChar char="•"/>
            </a:pPr>
            <a:r>
              <a:rPr lang="en-US" sz="1600" dirty="0">
                <a:solidFill>
                  <a:srgbClr val="C7D2DE"/>
                </a:solidFill>
                <a:latin typeface="Segoe UI" pitchFamily="34" charset="0"/>
                <a:ea typeface="Segoe UI" pitchFamily="34" charset="-122"/>
                <a:cs typeface="Segoe UI" pitchFamily="34" charset="-120"/>
              </a:rPr>
              <a:t>Drag your exported tour folder onto the page…</a:t>
            </a:r>
            <a:endParaRPr lang="en-US" sz="1600" dirty="0"/>
          </a:p>
          <a:p>
            <a:pPr marL="203200" indent="-203200">
              <a:lnSpc>
                <a:spcPct val="104000"/>
              </a:lnSpc>
              <a:spcAft>
                <a:spcPts val="1300"/>
              </a:spcAft>
              <a:buSzPct val="100000"/>
              <a:buChar char="•"/>
            </a:pPr>
            <a:r>
              <a:rPr lang="en-US" sz="1600" dirty="0">
                <a:solidFill>
                  <a:srgbClr val="C7D2DE"/>
                </a:solidFill>
                <a:latin typeface="Segoe UI" pitchFamily="34" charset="0"/>
                <a:ea typeface="Segoe UI" pitchFamily="34" charset="-122"/>
                <a:cs typeface="Segoe UI" pitchFamily="34" charset="-120"/>
              </a:rPr>
              <a:t>…or click “Choose tour folder…” (always works in every browser).</a:t>
            </a:r>
            <a:endParaRPr lang="en-US" sz="1600" dirty="0"/>
          </a:p>
          <a:p>
            <a:pPr marL="203200" indent="-203200">
              <a:lnSpc>
                <a:spcPct val="104000"/>
              </a:lnSpc>
              <a:spcAft>
                <a:spcPts val="1300"/>
              </a:spcAft>
              <a:buSzPct val="100000"/>
              <a:buChar char="•"/>
            </a:pPr>
            <a:r>
              <a:rPr lang="en-US" sz="1600" dirty="0">
                <a:solidFill>
                  <a:srgbClr val="C7D2DE"/>
                </a:solidFill>
                <a:latin typeface="Segoe UI" pitchFamily="34" charset="0"/>
                <a:ea typeface="Segoe UI" pitchFamily="34" charset="-122"/>
                <a:cs typeface="Segoe UI" pitchFamily="34" charset="-120"/>
              </a:rPr>
              <a:t>This is the folder with index.htm, script.js, media/ and locale/.</a:t>
            </a:r>
            <a:endParaRPr lang="en-US" sz="1600" dirty="0"/>
          </a:p>
          <a:p>
            <a:pPr marL="203200" indent="-203200">
              <a:lnSpc>
                <a:spcPct val="104000"/>
              </a:lnSpc>
              <a:spcAft>
                <a:spcPts val="1300"/>
              </a:spcAft>
              <a:buSzPct val="100000"/>
              <a:buChar char="•"/>
            </a:pPr>
            <a:r>
              <a:rPr lang="en-US" sz="1600" dirty="0">
                <a:solidFill>
                  <a:srgbClr val="C7D2DE"/>
                </a:solidFill>
                <a:latin typeface="Segoe UI" pitchFamily="34" charset="0"/>
                <a:ea typeface="Segoe UI" pitchFamily="34" charset="-122"/>
                <a:cs typeface="Segoe UI" pitchFamily="34" charset="-120"/>
              </a:rPr>
              <a:t>The tool instantly reads it — no upload, all local.</a:t>
            </a:r>
            <a:endParaRPr lang="en-US" sz="1600" dirty="0"/>
          </a:p>
        </p:txBody>
      </p:sp>
      <p:sp>
        <p:nvSpPr>
          <p:cNvPr id="9" name="Shape 7"/>
          <p:cNvSpPr/>
          <p:nvPr/>
        </p:nvSpPr>
        <p:spPr>
          <a:xfrm>
            <a:off x="6858000" y="1920240"/>
            <a:ext cx="4754880" cy="3108960"/>
          </a:xfrm>
          <a:prstGeom prst="roundRect">
            <a:avLst>
              <a:gd name="adj" fmla="val 2647"/>
            </a:avLst>
          </a:prstGeom>
          <a:solidFill>
            <a:srgbClr val="161D27"/>
          </a:solidFill>
          <a:ln w="12700">
            <a:solidFill>
              <a:srgbClr val="243042"/>
            </a:solidFill>
            <a:prstDash val="solid"/>
          </a:ln>
        </p:spPr>
      </p:sp>
      <p:sp>
        <p:nvSpPr>
          <p:cNvPr id="10" name="Text 8"/>
          <p:cNvSpPr/>
          <p:nvPr/>
        </p:nvSpPr>
        <p:spPr>
          <a:xfrm>
            <a:off x="7040880" y="2468880"/>
            <a:ext cx="4389120" cy="548640"/>
          </a:xfrm>
          <a:prstGeom prst="rect">
            <a:avLst/>
          </a:prstGeom>
          <a:noFill/>
          <a:ln/>
        </p:spPr>
        <p:txBody>
          <a:bodyPr wrap="square" rtlCol="0" anchor="ctr"/>
          <a:lstStyle/>
          <a:p>
            <a:pPr algn="ctr" indent="0" marL="0">
              <a:buNone/>
            </a:pPr>
            <a:r>
              <a:rPr lang="en-US" sz="1600" b="1" dirty="0">
                <a:solidFill>
                  <a:srgbClr val="EEF3F9"/>
                </a:solidFill>
                <a:latin typeface="Segoe UI" pitchFamily="34" charset="0"/>
                <a:ea typeface="Segoe UI" pitchFamily="34" charset="-122"/>
                <a:cs typeface="Segoe UI" pitchFamily="34" charset="-120"/>
              </a:rPr>
              <a:t>📁  Choose your exported tour folder</a:t>
            </a:r>
            <a:endParaRPr lang="en-US" sz="1600" dirty="0"/>
          </a:p>
        </p:txBody>
      </p:sp>
      <p:sp>
        <p:nvSpPr>
          <p:cNvPr id="11" name="Shape 9"/>
          <p:cNvSpPr/>
          <p:nvPr/>
        </p:nvSpPr>
        <p:spPr>
          <a:xfrm>
            <a:off x="7772400" y="3200400"/>
            <a:ext cx="2926080" cy="548640"/>
          </a:xfrm>
          <a:prstGeom prst="roundRect">
            <a:avLst>
              <a:gd name="adj" fmla="val 16667"/>
            </a:avLst>
          </a:prstGeom>
          <a:solidFill>
            <a:srgbClr val="2DA3FF"/>
          </a:solidFill>
          <a:ln/>
        </p:spPr>
      </p:sp>
      <p:sp>
        <p:nvSpPr>
          <p:cNvPr id="12" name="Text 10"/>
          <p:cNvSpPr/>
          <p:nvPr/>
        </p:nvSpPr>
        <p:spPr>
          <a:xfrm>
            <a:off x="7772400" y="3200400"/>
            <a:ext cx="2926080" cy="548640"/>
          </a:xfrm>
          <a:prstGeom prst="rect">
            <a:avLst/>
          </a:prstGeom>
          <a:noFill/>
          <a:ln/>
        </p:spPr>
        <p:txBody>
          <a:bodyPr wrap="square" rtlCol="0" anchor="ctr"/>
          <a:lstStyle/>
          <a:p>
            <a:pPr algn="ctr" indent="0" marL="0">
              <a:buNone/>
            </a:pPr>
            <a:r>
              <a:rPr lang="en-US" sz="1300" b="1" dirty="0">
                <a:solidFill>
                  <a:srgbClr val="06121F"/>
                </a:solidFill>
                <a:latin typeface="Segoe UI" pitchFamily="34" charset="0"/>
                <a:ea typeface="Segoe UI" pitchFamily="34" charset="-122"/>
                <a:cs typeface="Segoe UI" pitchFamily="34" charset="-120"/>
              </a:rPr>
              <a:t>Choose tour folder…</a:t>
            </a:r>
            <a:endParaRPr lang="en-US" sz="1300" dirty="0"/>
          </a:p>
        </p:txBody>
      </p:sp>
      <p:sp>
        <p:nvSpPr>
          <p:cNvPr id="13" name="Text 11"/>
          <p:cNvSpPr/>
          <p:nvPr/>
        </p:nvSpPr>
        <p:spPr>
          <a:xfrm>
            <a:off x="7040880" y="4114800"/>
            <a:ext cx="4389120" cy="548640"/>
          </a:xfrm>
          <a:prstGeom prst="rect">
            <a:avLst/>
          </a:prstGeom>
          <a:noFill/>
          <a:ln/>
        </p:spPr>
        <p:txBody>
          <a:bodyPr wrap="square" rtlCol="0" anchor="ctr"/>
          <a:lstStyle/>
          <a:p>
            <a:pPr algn="ctr" indent="0" marL="0">
              <a:buNone/>
            </a:pPr>
            <a:r>
              <a:rPr lang="en-US" sz="1200" dirty="0">
                <a:solidFill>
                  <a:srgbClr val="9FB2C6"/>
                </a:solidFill>
                <a:latin typeface="Segoe UI" pitchFamily="34" charset="0"/>
                <a:ea typeface="Segoe UI" pitchFamily="34" charset="-122"/>
                <a:cs typeface="Segoe UI" pitchFamily="34" charset="-120"/>
              </a:rPr>
              <a:t>Nothing is uploaded — everything runs locally in your browser.</a:t>
            </a:r>
            <a:endParaRPr lang="en-US" sz="1200" dirty="0"/>
          </a:p>
        </p:txBody>
      </p:sp>
      <p:sp>
        <p:nvSpPr>
          <p:cNvPr id="14" name="Text 12"/>
          <p:cNvSpPr/>
          <p:nvPr/>
        </p:nvSpPr>
        <p:spPr>
          <a:xfrm>
            <a:off x="548640" y="5394960"/>
            <a:ext cx="11064240" cy="640080"/>
          </a:xfrm>
          <a:prstGeom prst="rect">
            <a:avLst/>
          </a:prstGeom>
          <a:noFill/>
          <a:ln/>
        </p:spPr>
        <p:txBody>
          <a:bodyPr wrap="square" rtlCol="0" anchor="ctr"/>
          <a:lstStyle/>
          <a:p>
            <a:pPr indent="0" marL="0">
              <a:buNone/>
            </a:pPr>
            <a:r>
              <a:rPr lang="en-US" sz="1300" i="1" dirty="0">
                <a:solidFill>
                  <a:srgbClr val="E8943A"/>
                </a:solidFill>
                <a:latin typeface="Segoe UI" pitchFamily="34" charset="0"/>
                <a:ea typeface="Segoe UI" pitchFamily="34" charset="-122"/>
                <a:cs typeface="Segoe UI" pitchFamily="34" charset="-120"/>
              </a:rPr>
              <a:t>💡 Tip: folder drag-and-drop is most reliable in Firefox and on hosted pages — but the “Choose folder” button works everywhere.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STEP 2 · WHAT WAS FOUND</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It understands your whole tour</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6</a:t>
            </a:r>
            <a:endParaRPr lang="en-US" sz="900" dirty="0"/>
          </a:p>
        </p:txBody>
      </p:sp>
      <p:sp>
        <p:nvSpPr>
          <p:cNvPr id="8" name="Shape 6"/>
          <p:cNvSpPr/>
          <p:nvPr/>
        </p:nvSpPr>
        <p:spPr>
          <a:xfrm>
            <a:off x="777240" y="1920240"/>
            <a:ext cx="2011680" cy="1371600"/>
          </a:xfrm>
          <a:prstGeom prst="roundRect">
            <a:avLst>
              <a:gd name="adj" fmla="val 6000"/>
            </a:avLst>
          </a:prstGeom>
          <a:solidFill>
            <a:srgbClr val="161D27"/>
          </a:solidFill>
          <a:ln w="12700">
            <a:solidFill>
              <a:srgbClr val="243042"/>
            </a:solidFill>
            <a:prstDash val="solid"/>
          </a:ln>
        </p:spPr>
      </p:sp>
      <p:sp>
        <p:nvSpPr>
          <p:cNvPr id="9" name="Text 7"/>
          <p:cNvSpPr/>
          <p:nvPr/>
        </p:nvSpPr>
        <p:spPr>
          <a:xfrm>
            <a:off x="777240" y="2011680"/>
            <a:ext cx="2011680" cy="731520"/>
          </a:xfrm>
          <a:prstGeom prst="rect">
            <a:avLst/>
          </a:prstGeom>
          <a:noFill/>
          <a:ln/>
        </p:spPr>
        <p:txBody>
          <a:bodyPr wrap="square" rtlCol="0" anchor="ctr"/>
          <a:lstStyle/>
          <a:p>
            <a:pPr algn="ctr" indent="0" marL="0">
              <a:buNone/>
            </a:pPr>
            <a:r>
              <a:rPr lang="en-US" sz="3400" b="1" dirty="0">
                <a:solidFill>
                  <a:srgbClr val="2DA3FF"/>
                </a:solidFill>
                <a:latin typeface="Segoe UI" pitchFamily="34" charset="0"/>
                <a:ea typeface="Segoe UI" pitchFamily="34" charset="-122"/>
                <a:cs typeface="Segoe UI" pitchFamily="34" charset="-120"/>
              </a:rPr>
              <a:t>5</a:t>
            </a:r>
            <a:endParaRPr lang="en-US" sz="3400" dirty="0"/>
          </a:p>
        </p:txBody>
      </p:sp>
      <p:sp>
        <p:nvSpPr>
          <p:cNvPr id="10" name="Text 8"/>
          <p:cNvSpPr/>
          <p:nvPr/>
        </p:nvSpPr>
        <p:spPr>
          <a:xfrm>
            <a:off x="777240" y="2788920"/>
            <a:ext cx="2011680" cy="365760"/>
          </a:xfrm>
          <a:prstGeom prst="rect">
            <a:avLst/>
          </a:prstGeom>
          <a:noFill/>
          <a:ln/>
        </p:spPr>
        <p:txBody>
          <a:bodyPr wrap="square" rtlCol="0" anchor="ctr"/>
          <a:lstStyle/>
          <a:p>
            <a:pPr algn="ctr" indent="0" marL="0">
              <a:buNone/>
            </a:pPr>
            <a:r>
              <a:rPr lang="en-US" sz="1200" spc="100" kern="0" dirty="0">
                <a:solidFill>
                  <a:srgbClr val="9FB2C6"/>
                </a:solidFill>
                <a:latin typeface="Segoe UI" pitchFamily="34" charset="0"/>
                <a:ea typeface="Segoe UI" pitchFamily="34" charset="-122"/>
                <a:cs typeface="Segoe UI" pitchFamily="34" charset="-120"/>
              </a:rPr>
              <a:t>SCENES</a:t>
            </a:r>
            <a:endParaRPr lang="en-US" sz="1200" dirty="0"/>
          </a:p>
        </p:txBody>
      </p:sp>
      <p:sp>
        <p:nvSpPr>
          <p:cNvPr id="11" name="Shape 9"/>
          <p:cNvSpPr/>
          <p:nvPr/>
        </p:nvSpPr>
        <p:spPr>
          <a:xfrm>
            <a:off x="3035808" y="1920240"/>
            <a:ext cx="2011680" cy="1371600"/>
          </a:xfrm>
          <a:prstGeom prst="roundRect">
            <a:avLst>
              <a:gd name="adj" fmla="val 6000"/>
            </a:avLst>
          </a:prstGeom>
          <a:solidFill>
            <a:srgbClr val="161D27"/>
          </a:solidFill>
          <a:ln w="12700">
            <a:solidFill>
              <a:srgbClr val="243042"/>
            </a:solidFill>
            <a:prstDash val="solid"/>
          </a:ln>
        </p:spPr>
      </p:sp>
      <p:sp>
        <p:nvSpPr>
          <p:cNvPr id="12" name="Text 10"/>
          <p:cNvSpPr/>
          <p:nvPr/>
        </p:nvSpPr>
        <p:spPr>
          <a:xfrm>
            <a:off x="3035808" y="2011680"/>
            <a:ext cx="2011680" cy="731520"/>
          </a:xfrm>
          <a:prstGeom prst="rect">
            <a:avLst/>
          </a:prstGeom>
          <a:noFill/>
          <a:ln/>
        </p:spPr>
        <p:txBody>
          <a:bodyPr wrap="square" rtlCol="0" anchor="ctr"/>
          <a:lstStyle/>
          <a:p>
            <a:pPr algn="ctr" indent="0" marL="0">
              <a:buNone/>
            </a:pPr>
            <a:r>
              <a:rPr lang="en-US" sz="3400" b="1" dirty="0">
                <a:solidFill>
                  <a:srgbClr val="E8943A"/>
                </a:solidFill>
                <a:latin typeface="Segoe UI" pitchFamily="34" charset="0"/>
                <a:ea typeface="Segoe UI" pitchFamily="34" charset="-122"/>
                <a:cs typeface="Segoe UI" pitchFamily="34" charset="-120"/>
              </a:rPr>
              <a:t>33</a:t>
            </a:r>
            <a:endParaRPr lang="en-US" sz="3400" dirty="0"/>
          </a:p>
        </p:txBody>
      </p:sp>
      <p:sp>
        <p:nvSpPr>
          <p:cNvPr id="13" name="Text 11"/>
          <p:cNvSpPr/>
          <p:nvPr/>
        </p:nvSpPr>
        <p:spPr>
          <a:xfrm>
            <a:off x="3035808" y="2788920"/>
            <a:ext cx="2011680" cy="365760"/>
          </a:xfrm>
          <a:prstGeom prst="rect">
            <a:avLst/>
          </a:prstGeom>
          <a:noFill/>
          <a:ln/>
        </p:spPr>
        <p:txBody>
          <a:bodyPr wrap="square" rtlCol="0" anchor="ctr"/>
          <a:lstStyle/>
          <a:p>
            <a:pPr algn="ctr" indent="0" marL="0">
              <a:buNone/>
            </a:pPr>
            <a:r>
              <a:rPr lang="en-US" sz="1200" spc="100" kern="0" dirty="0">
                <a:solidFill>
                  <a:srgbClr val="9FB2C6"/>
                </a:solidFill>
                <a:latin typeface="Segoe UI" pitchFamily="34" charset="0"/>
                <a:ea typeface="Segoe UI" pitchFamily="34" charset="-122"/>
                <a:cs typeface="Segoe UI" pitchFamily="34" charset="-120"/>
              </a:rPr>
              <a:t>HOTSPOTS</a:t>
            </a:r>
            <a:endParaRPr lang="en-US" sz="1200" dirty="0"/>
          </a:p>
        </p:txBody>
      </p:sp>
      <p:sp>
        <p:nvSpPr>
          <p:cNvPr id="14" name="Shape 12"/>
          <p:cNvSpPr/>
          <p:nvPr/>
        </p:nvSpPr>
        <p:spPr>
          <a:xfrm>
            <a:off x="5294376" y="1920240"/>
            <a:ext cx="2011680" cy="1371600"/>
          </a:xfrm>
          <a:prstGeom prst="roundRect">
            <a:avLst>
              <a:gd name="adj" fmla="val 6000"/>
            </a:avLst>
          </a:prstGeom>
          <a:solidFill>
            <a:srgbClr val="161D27"/>
          </a:solidFill>
          <a:ln w="12700">
            <a:solidFill>
              <a:srgbClr val="243042"/>
            </a:solidFill>
            <a:prstDash val="solid"/>
          </a:ln>
        </p:spPr>
      </p:sp>
      <p:sp>
        <p:nvSpPr>
          <p:cNvPr id="15" name="Text 13"/>
          <p:cNvSpPr/>
          <p:nvPr/>
        </p:nvSpPr>
        <p:spPr>
          <a:xfrm>
            <a:off x="5294376" y="2011680"/>
            <a:ext cx="2011680" cy="731520"/>
          </a:xfrm>
          <a:prstGeom prst="rect">
            <a:avLst/>
          </a:prstGeom>
          <a:noFill/>
          <a:ln/>
        </p:spPr>
        <p:txBody>
          <a:bodyPr wrap="square" rtlCol="0" anchor="ctr"/>
          <a:lstStyle/>
          <a:p>
            <a:pPr algn="ctr" indent="0" marL="0">
              <a:buNone/>
            </a:pPr>
            <a:r>
              <a:rPr lang="en-US" sz="3400" b="1" dirty="0">
                <a:solidFill>
                  <a:srgbClr val="36D17A"/>
                </a:solidFill>
                <a:latin typeface="Segoe UI" pitchFamily="34" charset="0"/>
                <a:ea typeface="Segoe UI" pitchFamily="34" charset="-122"/>
                <a:cs typeface="Segoe UI" pitchFamily="34" charset="-120"/>
              </a:rPr>
              <a:t>1</a:t>
            </a:r>
            <a:endParaRPr lang="en-US" sz="3400" dirty="0"/>
          </a:p>
        </p:txBody>
      </p:sp>
      <p:sp>
        <p:nvSpPr>
          <p:cNvPr id="16" name="Text 14"/>
          <p:cNvSpPr/>
          <p:nvPr/>
        </p:nvSpPr>
        <p:spPr>
          <a:xfrm>
            <a:off x="5294376" y="2788920"/>
            <a:ext cx="2011680" cy="365760"/>
          </a:xfrm>
          <a:prstGeom prst="rect">
            <a:avLst/>
          </a:prstGeom>
          <a:noFill/>
          <a:ln/>
        </p:spPr>
        <p:txBody>
          <a:bodyPr wrap="square" rtlCol="0" anchor="ctr"/>
          <a:lstStyle/>
          <a:p>
            <a:pPr algn="ctr" indent="0" marL="0">
              <a:buNone/>
            </a:pPr>
            <a:r>
              <a:rPr lang="en-US" sz="1200" spc="100" kern="0" dirty="0">
                <a:solidFill>
                  <a:srgbClr val="9FB2C6"/>
                </a:solidFill>
                <a:latin typeface="Segoe UI" pitchFamily="34" charset="0"/>
                <a:ea typeface="Segoe UI" pitchFamily="34" charset="-122"/>
                <a:cs typeface="Segoe UI" pitchFamily="34" charset="-120"/>
              </a:rPr>
              <a:t>PHOTO</a:t>
            </a:r>
            <a:endParaRPr lang="en-US" sz="1200" dirty="0"/>
          </a:p>
        </p:txBody>
      </p:sp>
      <p:sp>
        <p:nvSpPr>
          <p:cNvPr id="17" name="Shape 15"/>
          <p:cNvSpPr/>
          <p:nvPr/>
        </p:nvSpPr>
        <p:spPr>
          <a:xfrm>
            <a:off x="7552944" y="1920240"/>
            <a:ext cx="2011680" cy="1371600"/>
          </a:xfrm>
          <a:prstGeom prst="roundRect">
            <a:avLst>
              <a:gd name="adj" fmla="val 6000"/>
            </a:avLst>
          </a:prstGeom>
          <a:solidFill>
            <a:srgbClr val="161D27"/>
          </a:solidFill>
          <a:ln w="12700">
            <a:solidFill>
              <a:srgbClr val="243042"/>
            </a:solidFill>
            <a:prstDash val="solid"/>
          </a:ln>
        </p:spPr>
      </p:sp>
      <p:sp>
        <p:nvSpPr>
          <p:cNvPr id="18" name="Text 16"/>
          <p:cNvSpPr/>
          <p:nvPr/>
        </p:nvSpPr>
        <p:spPr>
          <a:xfrm>
            <a:off x="7552944" y="2011680"/>
            <a:ext cx="2011680" cy="731520"/>
          </a:xfrm>
          <a:prstGeom prst="rect">
            <a:avLst/>
          </a:prstGeom>
          <a:noFill/>
          <a:ln/>
        </p:spPr>
        <p:txBody>
          <a:bodyPr wrap="square" rtlCol="0" anchor="ctr"/>
          <a:lstStyle/>
          <a:p>
            <a:pPr algn="ctr" indent="0" marL="0">
              <a:buNone/>
            </a:pPr>
            <a:r>
              <a:rPr lang="en-US" sz="3400" b="1" dirty="0">
                <a:solidFill>
                  <a:srgbClr val="B483FF"/>
                </a:solidFill>
                <a:latin typeface="Segoe UI" pitchFamily="34" charset="0"/>
                <a:ea typeface="Segoe UI" pitchFamily="34" charset="-122"/>
                <a:cs typeface="Segoe UI" pitchFamily="34" charset="-120"/>
              </a:rPr>
              <a:t>5</a:t>
            </a:r>
            <a:endParaRPr lang="en-US" sz="3400" dirty="0"/>
          </a:p>
        </p:txBody>
      </p:sp>
      <p:sp>
        <p:nvSpPr>
          <p:cNvPr id="19" name="Text 17"/>
          <p:cNvSpPr/>
          <p:nvPr/>
        </p:nvSpPr>
        <p:spPr>
          <a:xfrm>
            <a:off x="7552944" y="2788920"/>
            <a:ext cx="2011680" cy="365760"/>
          </a:xfrm>
          <a:prstGeom prst="rect">
            <a:avLst/>
          </a:prstGeom>
          <a:noFill/>
          <a:ln/>
        </p:spPr>
        <p:txBody>
          <a:bodyPr wrap="square" rtlCol="0" anchor="ctr"/>
          <a:lstStyle/>
          <a:p>
            <a:pPr algn="ctr" indent="0" marL="0">
              <a:buNone/>
            </a:pPr>
            <a:r>
              <a:rPr lang="en-US" sz="1200" spc="100" kern="0" dirty="0">
                <a:solidFill>
                  <a:srgbClr val="9FB2C6"/>
                </a:solidFill>
                <a:latin typeface="Segoe UI" pitchFamily="34" charset="0"/>
                <a:ea typeface="Segoe UI" pitchFamily="34" charset="-122"/>
                <a:cs typeface="Segoe UI" pitchFamily="34" charset="-120"/>
              </a:rPr>
              <a:t>ALBUMS</a:t>
            </a:r>
            <a:endParaRPr lang="en-US" sz="1200" dirty="0"/>
          </a:p>
        </p:txBody>
      </p:sp>
      <p:sp>
        <p:nvSpPr>
          <p:cNvPr id="20" name="Shape 18"/>
          <p:cNvSpPr/>
          <p:nvPr/>
        </p:nvSpPr>
        <p:spPr>
          <a:xfrm>
            <a:off x="9811512" y="1920240"/>
            <a:ext cx="2011680" cy="1371600"/>
          </a:xfrm>
          <a:prstGeom prst="roundRect">
            <a:avLst>
              <a:gd name="adj" fmla="val 6000"/>
            </a:avLst>
          </a:prstGeom>
          <a:solidFill>
            <a:srgbClr val="161D27"/>
          </a:solidFill>
          <a:ln w="12700">
            <a:solidFill>
              <a:srgbClr val="243042"/>
            </a:solidFill>
            <a:prstDash val="solid"/>
          </a:ln>
        </p:spPr>
      </p:sp>
      <p:sp>
        <p:nvSpPr>
          <p:cNvPr id="21" name="Text 19"/>
          <p:cNvSpPr/>
          <p:nvPr/>
        </p:nvSpPr>
        <p:spPr>
          <a:xfrm>
            <a:off x="9811512" y="2011680"/>
            <a:ext cx="2011680" cy="731520"/>
          </a:xfrm>
          <a:prstGeom prst="rect">
            <a:avLst/>
          </a:prstGeom>
          <a:noFill/>
          <a:ln/>
        </p:spPr>
        <p:txBody>
          <a:bodyPr wrap="square" rtlCol="0" anchor="ctr"/>
          <a:lstStyle/>
          <a:p>
            <a:pPr algn="ctr" indent="0" marL="0">
              <a:buNone/>
            </a:pPr>
            <a:r>
              <a:rPr lang="en-US" sz="3400" b="1" dirty="0">
                <a:solidFill>
                  <a:srgbClr val="EEF3F9"/>
                </a:solidFill>
                <a:latin typeface="Segoe UI" pitchFamily="34" charset="0"/>
                <a:ea typeface="Segoe UI" pitchFamily="34" charset="-122"/>
                <a:cs typeface="Segoe UI" pitchFamily="34" charset="-120"/>
              </a:rPr>
              <a:t>44</a:t>
            </a:r>
            <a:endParaRPr lang="en-US" sz="3400" dirty="0"/>
          </a:p>
        </p:txBody>
      </p:sp>
      <p:sp>
        <p:nvSpPr>
          <p:cNvPr id="22" name="Text 20"/>
          <p:cNvSpPr/>
          <p:nvPr/>
        </p:nvSpPr>
        <p:spPr>
          <a:xfrm>
            <a:off x="9811512" y="2788920"/>
            <a:ext cx="2011680" cy="365760"/>
          </a:xfrm>
          <a:prstGeom prst="rect">
            <a:avLst/>
          </a:prstGeom>
          <a:noFill/>
          <a:ln/>
        </p:spPr>
        <p:txBody>
          <a:bodyPr wrap="square" rtlCol="0" anchor="ctr"/>
          <a:lstStyle/>
          <a:p>
            <a:pPr algn="ctr" indent="0" marL="0">
              <a:buNone/>
            </a:pPr>
            <a:r>
              <a:rPr lang="en-US" sz="1200" spc="100" kern="0" dirty="0">
                <a:solidFill>
                  <a:srgbClr val="9FB2C6"/>
                </a:solidFill>
                <a:latin typeface="Segoe UI" pitchFamily="34" charset="0"/>
                <a:ea typeface="Segoe UI" pitchFamily="34" charset="-122"/>
                <a:cs typeface="Segoe UI" pitchFamily="34" charset="-120"/>
              </a:rPr>
              <a:t>TOTAL</a:t>
            </a:r>
            <a:endParaRPr lang="en-US" sz="1200" dirty="0"/>
          </a:p>
        </p:txBody>
      </p:sp>
      <p:sp>
        <p:nvSpPr>
          <p:cNvPr id="23" name="Text 21"/>
          <p:cNvSpPr/>
          <p:nvPr/>
        </p:nvSpPr>
        <p:spPr>
          <a:xfrm>
            <a:off x="822960" y="3657600"/>
            <a:ext cx="10789920" cy="4206240"/>
          </a:xfrm>
          <a:prstGeom prst="rect">
            <a:avLst/>
          </a:prstGeom>
          <a:noFill/>
          <a:ln/>
        </p:spPr>
        <p:txBody>
          <a:bodyPr wrap="square" rtlCol="0" anchor="t"/>
          <a:lstStyle/>
          <a:p>
            <a:pPr marL="203200" indent="-203200">
              <a:lnSpc>
                <a:spcPct val="104000"/>
              </a:lnSpc>
              <a:spcAft>
                <a:spcPts val="1200"/>
              </a:spcAft>
              <a:buSzPct val="100000"/>
              <a:buChar char="•"/>
            </a:pPr>
            <a:r>
              <a:rPr lang="en-US" sz="1600" b="1" dirty="0">
                <a:solidFill>
                  <a:srgbClr val="EEF3F9"/>
                </a:solidFill>
                <a:latin typeface="Segoe UI" pitchFamily="34" charset="0"/>
                <a:ea typeface="Segoe UI" pitchFamily="34" charset="-122"/>
                <a:cs typeface="Segoe UI" pitchFamily="34" charset="-120"/>
              </a:rPr>
              <a:t>Reads names from the tour's locale files — every language you have.</a:t>
            </a:r>
            <a:endParaRPr lang="en-US" sz="1600" dirty="0"/>
          </a:p>
          <a:p>
            <a:pPr marL="203200" indent="-203200">
              <a:lnSpc>
                <a:spcPct val="104000"/>
              </a:lnSpc>
              <a:spcAft>
                <a:spcPts val="1200"/>
              </a:spcAft>
              <a:buSzPct val="100000"/>
              <a:buChar char="•"/>
            </a:pPr>
            <a:r>
              <a:rPr lang="en-US" sz="1600" dirty="0">
                <a:solidFill>
                  <a:srgbClr val="C7D2DE"/>
                </a:solidFill>
                <a:latin typeface="Segoe UI" pitchFamily="34" charset="0"/>
                <a:ea typeface="Segoe UI" pitchFamily="34" charset="-122"/>
                <a:cs typeface="Segoe UI" pitchFamily="34" charset="-120"/>
              </a:rPr>
              <a:t>Scenes &amp; photos/videos/albums use their names; hotspots use their tooltips.</a:t>
            </a:r>
            <a:endParaRPr lang="en-US" sz="1600" dirty="0"/>
          </a:p>
          <a:p>
            <a:pPr marL="203200" indent="-203200">
              <a:lnSpc>
                <a:spcPct val="104000"/>
              </a:lnSpc>
              <a:spcAft>
                <a:spcPts val="1200"/>
              </a:spcAft>
              <a:buSzPct val="100000"/>
              <a:buChar char="•"/>
            </a:pPr>
            <a:r>
              <a:rPr lang="en-US" sz="1600" dirty="0">
                <a:solidFill>
                  <a:srgbClr val="C7D2DE"/>
                </a:solidFill>
                <a:latin typeface="Segoe UI" pitchFamily="34" charset="0"/>
                <a:ea typeface="Segoe UI" pitchFamily="34" charset="-122"/>
                <a:cs typeface="Segoe UI" pitchFamily="34" charset="-120"/>
              </a:rPr>
              <a:t>Also pulls thumbnails and the scene-connection graph (used later for guided walks).</a:t>
            </a:r>
            <a:endParaRPr lang="en-US" sz="1600" dirty="0"/>
          </a:p>
          <a:p>
            <a:pPr marL="203200" indent="-203200">
              <a:lnSpc>
                <a:spcPct val="104000"/>
              </a:lnSpc>
              <a:spcAft>
                <a:spcPts val="1200"/>
              </a:spcAft>
              <a:buSzPct val="100000"/>
              <a:buChar char="•"/>
            </a:pPr>
            <a:r>
              <a:rPr lang="en-US" sz="1600" dirty="0">
                <a:solidFill>
                  <a:srgbClr val="C7D2DE"/>
                </a:solidFill>
                <a:latin typeface="Segoe UI" pitchFamily="34" charset="0"/>
                <a:ea typeface="Segoe UI" pitchFamily="34" charset="-122"/>
                <a:cs typeface="Segoe UI" pitchFamily="34" charset="-120"/>
              </a:rPr>
              <a:t>Shows a live preview of the search box as you configure.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STEP 2 · SEARCHABLE TYPES</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You decide what visitors can find</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7</a:t>
            </a:r>
            <a:endParaRPr lang="en-US" sz="900" dirty="0"/>
          </a:p>
        </p:txBody>
      </p:sp>
      <p:sp>
        <p:nvSpPr>
          <p:cNvPr id="8" name="Shape 6"/>
          <p:cNvSpPr/>
          <p:nvPr/>
        </p:nvSpPr>
        <p:spPr>
          <a:xfrm>
            <a:off x="822960" y="1920240"/>
            <a:ext cx="1828800" cy="384048"/>
          </a:xfrm>
          <a:prstGeom prst="roundRect">
            <a:avLst>
              <a:gd name="adj" fmla="val 50000"/>
            </a:avLst>
          </a:prstGeom>
          <a:solidFill>
            <a:srgbClr val="15202E"/>
          </a:solidFill>
          <a:ln w="12700">
            <a:solidFill>
              <a:srgbClr val="2B3B4F"/>
            </a:solidFill>
            <a:prstDash val="solid"/>
          </a:ln>
        </p:spPr>
      </p:sp>
      <p:sp>
        <p:nvSpPr>
          <p:cNvPr id="9" name="Shape 7"/>
          <p:cNvSpPr/>
          <p:nvPr/>
        </p:nvSpPr>
        <p:spPr>
          <a:xfrm>
            <a:off x="950976" y="2066544"/>
            <a:ext cx="91440" cy="91440"/>
          </a:xfrm>
          <a:prstGeom prst="ellipse">
            <a:avLst/>
          </a:prstGeom>
          <a:solidFill>
            <a:srgbClr val="2DA3FF"/>
          </a:solidFill>
          <a:ln/>
        </p:spPr>
      </p:sp>
      <p:sp>
        <p:nvSpPr>
          <p:cNvPr id="10" name="Text 8"/>
          <p:cNvSpPr/>
          <p:nvPr/>
        </p:nvSpPr>
        <p:spPr>
          <a:xfrm>
            <a:off x="1097280" y="1920240"/>
            <a:ext cx="1554480" cy="384048"/>
          </a:xfrm>
          <a:prstGeom prst="rect">
            <a:avLst/>
          </a:prstGeom>
          <a:noFill/>
          <a:ln/>
        </p:spPr>
        <p:txBody>
          <a:bodyPr wrap="square" rtlCol="0" anchor="ctr"/>
          <a:lstStyle/>
          <a:p>
            <a:pPr indent="0" marL="0">
              <a:buNone/>
            </a:pPr>
            <a:r>
              <a:rPr lang="en-US" sz="1200" b="1" dirty="0">
                <a:solidFill>
                  <a:srgbClr val="C7D2DE"/>
                </a:solidFill>
                <a:latin typeface="Segoe UI" pitchFamily="34" charset="0"/>
                <a:ea typeface="Segoe UI" pitchFamily="34" charset="-122"/>
                <a:cs typeface="Segoe UI" pitchFamily="34" charset="-120"/>
              </a:rPr>
              <a:t>☑ Scenes</a:t>
            </a:r>
            <a:endParaRPr lang="en-US" sz="1200" dirty="0"/>
          </a:p>
        </p:txBody>
      </p:sp>
      <p:sp>
        <p:nvSpPr>
          <p:cNvPr id="11" name="Shape 9"/>
          <p:cNvSpPr/>
          <p:nvPr/>
        </p:nvSpPr>
        <p:spPr>
          <a:xfrm>
            <a:off x="2788920" y="1920240"/>
            <a:ext cx="2103120" cy="384048"/>
          </a:xfrm>
          <a:prstGeom prst="roundRect">
            <a:avLst>
              <a:gd name="adj" fmla="val 50000"/>
            </a:avLst>
          </a:prstGeom>
          <a:solidFill>
            <a:srgbClr val="15202E"/>
          </a:solidFill>
          <a:ln w="12700">
            <a:solidFill>
              <a:srgbClr val="2B3B4F"/>
            </a:solidFill>
            <a:prstDash val="solid"/>
          </a:ln>
        </p:spPr>
      </p:sp>
      <p:sp>
        <p:nvSpPr>
          <p:cNvPr id="12" name="Shape 10"/>
          <p:cNvSpPr/>
          <p:nvPr/>
        </p:nvSpPr>
        <p:spPr>
          <a:xfrm>
            <a:off x="2916936" y="2066544"/>
            <a:ext cx="91440" cy="91440"/>
          </a:xfrm>
          <a:prstGeom prst="ellipse">
            <a:avLst/>
          </a:prstGeom>
          <a:solidFill>
            <a:srgbClr val="E8943A"/>
          </a:solidFill>
          <a:ln/>
        </p:spPr>
      </p:sp>
      <p:sp>
        <p:nvSpPr>
          <p:cNvPr id="13" name="Text 11"/>
          <p:cNvSpPr/>
          <p:nvPr/>
        </p:nvSpPr>
        <p:spPr>
          <a:xfrm>
            <a:off x="3063240" y="1920240"/>
            <a:ext cx="1828800" cy="384048"/>
          </a:xfrm>
          <a:prstGeom prst="rect">
            <a:avLst/>
          </a:prstGeom>
          <a:noFill/>
          <a:ln/>
        </p:spPr>
        <p:txBody>
          <a:bodyPr wrap="square" rtlCol="0" anchor="ctr"/>
          <a:lstStyle/>
          <a:p>
            <a:pPr indent="0" marL="0">
              <a:buNone/>
            </a:pPr>
            <a:r>
              <a:rPr lang="en-US" sz="1200" b="1" dirty="0">
                <a:solidFill>
                  <a:srgbClr val="C7D2DE"/>
                </a:solidFill>
                <a:latin typeface="Segoe UI" pitchFamily="34" charset="0"/>
                <a:ea typeface="Segoe UI" pitchFamily="34" charset="-122"/>
                <a:cs typeface="Segoe UI" pitchFamily="34" charset="-120"/>
              </a:rPr>
              <a:t>☑ Hotspots</a:t>
            </a:r>
            <a:endParaRPr lang="en-US" sz="1200" dirty="0"/>
          </a:p>
        </p:txBody>
      </p:sp>
      <p:sp>
        <p:nvSpPr>
          <p:cNvPr id="14" name="Shape 12"/>
          <p:cNvSpPr/>
          <p:nvPr/>
        </p:nvSpPr>
        <p:spPr>
          <a:xfrm>
            <a:off x="5029200" y="1920240"/>
            <a:ext cx="2377440" cy="384048"/>
          </a:xfrm>
          <a:prstGeom prst="roundRect">
            <a:avLst>
              <a:gd name="adj" fmla="val 50000"/>
            </a:avLst>
          </a:prstGeom>
          <a:solidFill>
            <a:srgbClr val="15202E"/>
          </a:solidFill>
          <a:ln w="12700">
            <a:solidFill>
              <a:srgbClr val="2B3B4F"/>
            </a:solidFill>
            <a:prstDash val="solid"/>
          </a:ln>
        </p:spPr>
      </p:sp>
      <p:sp>
        <p:nvSpPr>
          <p:cNvPr id="15" name="Shape 13"/>
          <p:cNvSpPr/>
          <p:nvPr/>
        </p:nvSpPr>
        <p:spPr>
          <a:xfrm>
            <a:off x="5157216" y="2066544"/>
            <a:ext cx="91440" cy="91440"/>
          </a:xfrm>
          <a:prstGeom prst="ellipse">
            <a:avLst/>
          </a:prstGeom>
          <a:solidFill>
            <a:srgbClr val="36D17A"/>
          </a:solidFill>
          <a:ln/>
        </p:spPr>
      </p:sp>
      <p:sp>
        <p:nvSpPr>
          <p:cNvPr id="16" name="Text 14"/>
          <p:cNvSpPr/>
          <p:nvPr/>
        </p:nvSpPr>
        <p:spPr>
          <a:xfrm>
            <a:off x="5303520" y="1920240"/>
            <a:ext cx="2103120" cy="384048"/>
          </a:xfrm>
          <a:prstGeom prst="rect">
            <a:avLst/>
          </a:prstGeom>
          <a:noFill/>
          <a:ln/>
        </p:spPr>
        <p:txBody>
          <a:bodyPr wrap="square" rtlCol="0" anchor="ctr"/>
          <a:lstStyle/>
          <a:p>
            <a:pPr indent="0" marL="0">
              <a:buNone/>
            </a:pPr>
            <a:r>
              <a:rPr lang="en-US" sz="1200" b="1" dirty="0">
                <a:solidFill>
                  <a:srgbClr val="C7D2DE"/>
                </a:solidFill>
                <a:latin typeface="Segoe UI" pitchFamily="34" charset="0"/>
                <a:ea typeface="Segoe UI" pitchFamily="34" charset="-122"/>
                <a:cs typeface="Segoe UI" pitchFamily="34" charset="-120"/>
              </a:rPr>
              <a:t>☐ Photo · off</a:t>
            </a:r>
            <a:endParaRPr lang="en-US" sz="1200" dirty="0"/>
          </a:p>
        </p:txBody>
      </p:sp>
      <p:sp>
        <p:nvSpPr>
          <p:cNvPr id="17" name="Shape 15"/>
          <p:cNvSpPr/>
          <p:nvPr/>
        </p:nvSpPr>
        <p:spPr>
          <a:xfrm>
            <a:off x="7543800" y="1920240"/>
            <a:ext cx="2377440" cy="384048"/>
          </a:xfrm>
          <a:prstGeom prst="roundRect">
            <a:avLst>
              <a:gd name="adj" fmla="val 50000"/>
            </a:avLst>
          </a:prstGeom>
          <a:solidFill>
            <a:srgbClr val="15202E"/>
          </a:solidFill>
          <a:ln w="12700">
            <a:solidFill>
              <a:srgbClr val="2B3B4F"/>
            </a:solidFill>
            <a:prstDash val="solid"/>
          </a:ln>
        </p:spPr>
      </p:sp>
      <p:sp>
        <p:nvSpPr>
          <p:cNvPr id="18" name="Shape 16"/>
          <p:cNvSpPr/>
          <p:nvPr/>
        </p:nvSpPr>
        <p:spPr>
          <a:xfrm>
            <a:off x="7671816" y="2066544"/>
            <a:ext cx="91440" cy="91440"/>
          </a:xfrm>
          <a:prstGeom prst="ellipse">
            <a:avLst/>
          </a:prstGeom>
          <a:solidFill>
            <a:srgbClr val="B483FF"/>
          </a:solidFill>
          <a:ln/>
        </p:spPr>
      </p:sp>
      <p:sp>
        <p:nvSpPr>
          <p:cNvPr id="19" name="Text 17"/>
          <p:cNvSpPr/>
          <p:nvPr/>
        </p:nvSpPr>
        <p:spPr>
          <a:xfrm>
            <a:off x="7818120" y="1920240"/>
            <a:ext cx="2103120" cy="384048"/>
          </a:xfrm>
          <a:prstGeom prst="rect">
            <a:avLst/>
          </a:prstGeom>
          <a:noFill/>
          <a:ln/>
        </p:spPr>
        <p:txBody>
          <a:bodyPr wrap="square" rtlCol="0" anchor="ctr"/>
          <a:lstStyle/>
          <a:p>
            <a:pPr indent="0" marL="0">
              <a:buNone/>
            </a:pPr>
            <a:r>
              <a:rPr lang="en-US" sz="1200" b="1" dirty="0">
                <a:solidFill>
                  <a:srgbClr val="C7D2DE"/>
                </a:solidFill>
                <a:latin typeface="Segoe UI" pitchFamily="34" charset="0"/>
                <a:ea typeface="Segoe UI" pitchFamily="34" charset="-122"/>
                <a:cs typeface="Segoe UI" pitchFamily="34" charset="-120"/>
              </a:rPr>
              <a:t>☐ Albums · off</a:t>
            </a:r>
            <a:endParaRPr lang="en-US" sz="1200" dirty="0"/>
          </a:p>
        </p:txBody>
      </p:sp>
      <p:sp>
        <p:nvSpPr>
          <p:cNvPr id="20" name="Shape 18"/>
          <p:cNvSpPr/>
          <p:nvPr/>
        </p:nvSpPr>
        <p:spPr>
          <a:xfrm>
            <a:off x="548640" y="2651760"/>
            <a:ext cx="11064240" cy="3200400"/>
          </a:xfrm>
          <a:prstGeom prst="roundRect">
            <a:avLst>
              <a:gd name="adj" fmla="val 2571"/>
            </a:avLst>
          </a:prstGeom>
          <a:solidFill>
            <a:srgbClr val="161D27"/>
          </a:solidFill>
          <a:ln w="12700">
            <a:solidFill>
              <a:srgbClr val="243042"/>
            </a:solidFill>
            <a:prstDash val="solid"/>
          </a:ln>
        </p:spPr>
      </p:sp>
      <p:sp>
        <p:nvSpPr>
          <p:cNvPr id="21" name="Text 19"/>
          <p:cNvSpPr/>
          <p:nvPr/>
        </p:nvSpPr>
        <p:spPr>
          <a:xfrm>
            <a:off x="868680" y="2926080"/>
            <a:ext cx="10424160" cy="4206240"/>
          </a:xfrm>
          <a:prstGeom prst="rect">
            <a:avLst/>
          </a:prstGeom>
          <a:noFill/>
          <a:ln/>
        </p:spPr>
        <p:txBody>
          <a:bodyPr wrap="square" rtlCol="0" anchor="t"/>
          <a:lstStyle/>
          <a:p>
            <a:pPr marL="203200" indent="-203200">
              <a:lnSpc>
                <a:spcPct val="104000"/>
              </a:lnSpc>
              <a:spcAft>
                <a:spcPts val="1100"/>
              </a:spcAft>
              <a:buSzPct val="100000"/>
              <a:buChar char="•"/>
            </a:pPr>
            <a:r>
              <a:rPr lang="en-US" sz="1500" b="1" dirty="0">
                <a:solidFill>
                  <a:srgbClr val="36D17A"/>
                </a:solidFill>
                <a:latin typeface="Segoe UI" pitchFamily="34" charset="0"/>
                <a:ea typeface="Segoe UI" pitchFamily="34" charset="-122"/>
                <a:cs typeface="Segoe UI" pitchFamily="34" charset="-120"/>
              </a:rPr>
              <a:t>Scenes and hotspots are ON by default — the player opens them reliably.</a:t>
            </a:r>
            <a:endParaRPr lang="en-US" sz="1500" dirty="0"/>
          </a:p>
          <a:p>
            <a:pPr marL="203200" indent="-203200">
              <a:lnSpc>
                <a:spcPct val="104000"/>
              </a:lnSpc>
              <a:spcAft>
                <a:spcPts val="1100"/>
              </a:spcAft>
              <a:buSzPct val="100000"/>
              <a:buChar char="•"/>
            </a:pPr>
            <a:r>
              <a:rPr lang="en-US" sz="1500" b="1" dirty="0">
                <a:solidFill>
                  <a:srgbClr val="E8943A"/>
                </a:solidFill>
                <a:latin typeface="Segoe UI" pitchFamily="34" charset="0"/>
                <a:ea typeface="Segoe UI" pitchFamily="34" charset="-122"/>
                <a:cs typeface="Segoe UI" pitchFamily="34" charset="-120"/>
              </a:rPr>
              <a:t>Photos, albums and videos are OFF by default.</a:t>
            </a:r>
            <a:endParaRPr lang="en-US" sz="1500" dirty="0"/>
          </a:p>
          <a:p>
            <a:pPr lvl="1" marL="457200" indent="-228600">
              <a:lnSpc>
                <a:spcPct val="104000"/>
              </a:lnSpc>
              <a:spcAft>
                <a:spcPts val="1100"/>
              </a:spcAft>
              <a:buSzPct val="100000"/>
              <a:buChar char="▪"/>
            </a:pPr>
            <a:r>
              <a:rPr lang="en-US" sz="1500" dirty="0">
                <a:solidFill>
                  <a:srgbClr val="C7D2DE"/>
                </a:solidFill>
                <a:latin typeface="Segoe UI" pitchFamily="34" charset="0"/>
                <a:ea typeface="Segoe UI" pitchFamily="34" charset="-122"/>
                <a:cs typeface="Segoe UI" pitchFamily="34" charset="-120"/>
              </a:rPr>
              <a:t>Why: a 3DVista export only lets an outside script switch the main media. Pop-up photo/album slides are opened by the buttons the author placed — a script can't trigger those.</a:t>
            </a:r>
            <a:endParaRPr lang="en-US" sz="1500" dirty="0"/>
          </a:p>
          <a:p>
            <a:pPr marL="203200" indent="-203200">
              <a:lnSpc>
                <a:spcPct val="104000"/>
              </a:lnSpc>
              <a:spcAft>
                <a:spcPts val="1100"/>
              </a:spcAft>
              <a:buSzPct val="100000"/>
              <a:buChar char="•"/>
            </a:pPr>
            <a:r>
              <a:rPr lang="en-US" sz="1500" dirty="0">
                <a:solidFill>
                  <a:srgbClr val="C7D2DE"/>
                </a:solidFill>
                <a:latin typeface="Segoe UI" pitchFamily="34" charset="0"/>
                <a:ea typeface="Segoe UI" pitchFamily="34" charset="-122"/>
                <a:cs typeface="Segoe UI" pitchFamily="34" charset="-120"/>
              </a:rPr>
              <a:t>You can tick them on if you've confirmed they open in your tour…</a:t>
            </a:r>
            <a:endParaRPr lang="en-US" sz="1500" dirty="0"/>
          </a:p>
          <a:p>
            <a:pPr lvl="1" marL="457200" indent="-228600">
              <a:lnSpc>
                <a:spcPct val="104000"/>
              </a:lnSpc>
              <a:spcAft>
                <a:spcPts val="1100"/>
              </a:spcAft>
              <a:buSzPct val="100000"/>
              <a:buChar char="▪"/>
            </a:pPr>
            <a:r>
              <a:rPr lang="en-US" sz="1500" dirty="0">
                <a:solidFill>
                  <a:srgbClr val="C7D2DE"/>
                </a:solidFill>
                <a:latin typeface="Segoe UI" pitchFamily="34" charset="0"/>
                <a:ea typeface="Segoe UI" pitchFamily="34" charset="-122"/>
                <a:cs typeface="Segoe UI" pitchFamily="34" charset="-120"/>
              </a:rPr>
              <a:t>…and if a re-ticked item can't open, search shows a gentle “open it from the menu” note instead of failing silently.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STEP 2 · NAMES &amp; KEYWORDS</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Make everything findable (optional, but powerful)</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8</a:t>
            </a:r>
            <a:endParaRPr lang="en-US" sz="900" dirty="0"/>
          </a:p>
        </p:txBody>
      </p:sp>
      <p:sp>
        <p:nvSpPr>
          <p:cNvPr id="8" name="Shape 6"/>
          <p:cNvSpPr/>
          <p:nvPr/>
        </p:nvSpPr>
        <p:spPr>
          <a:xfrm>
            <a:off x="548640" y="1828800"/>
            <a:ext cx="5394960" cy="1828800"/>
          </a:xfrm>
          <a:prstGeom prst="roundRect">
            <a:avLst>
              <a:gd name="adj" fmla="val 4500"/>
            </a:avLst>
          </a:prstGeom>
          <a:solidFill>
            <a:srgbClr val="161D27"/>
          </a:solidFill>
          <a:ln w="12700">
            <a:solidFill>
              <a:srgbClr val="243042"/>
            </a:solidFill>
            <a:prstDash val="solid"/>
          </a:ln>
        </p:spPr>
      </p:sp>
      <p:sp>
        <p:nvSpPr>
          <p:cNvPr id="9" name="Text 7"/>
          <p:cNvSpPr/>
          <p:nvPr/>
        </p:nvSpPr>
        <p:spPr>
          <a:xfrm>
            <a:off x="777240" y="1965960"/>
            <a:ext cx="4937760" cy="365760"/>
          </a:xfrm>
          <a:prstGeom prst="rect">
            <a:avLst/>
          </a:prstGeom>
          <a:noFill/>
          <a:ln/>
        </p:spPr>
        <p:txBody>
          <a:bodyPr wrap="square" rtlCol="0" anchor="ctr"/>
          <a:lstStyle/>
          <a:p>
            <a:pPr indent="0" marL="0">
              <a:buNone/>
            </a:pPr>
            <a:r>
              <a:rPr lang="en-US" sz="1500" b="1" dirty="0">
                <a:solidFill>
                  <a:srgbClr val="2DA3FF"/>
                </a:solidFill>
                <a:latin typeface="Segoe UI" pitchFamily="34" charset="0"/>
                <a:ea typeface="Segoe UI" pitchFamily="34" charset="-122"/>
                <a:cs typeface="Segoe UI" pitchFamily="34" charset="-120"/>
              </a:rPr>
              <a:t>Display name</a:t>
            </a:r>
            <a:endParaRPr lang="en-US" sz="1500" dirty="0"/>
          </a:p>
        </p:txBody>
      </p:sp>
      <p:sp>
        <p:nvSpPr>
          <p:cNvPr id="10" name="Text 8"/>
          <p:cNvSpPr/>
          <p:nvPr/>
        </p:nvSpPr>
        <p:spPr>
          <a:xfrm>
            <a:off x="777240" y="2377440"/>
            <a:ext cx="4937760" cy="1097280"/>
          </a:xfrm>
          <a:prstGeom prst="rect">
            <a:avLst/>
          </a:prstGeom>
          <a:noFill/>
          <a:ln/>
        </p:spPr>
        <p:txBody>
          <a:bodyPr wrap="square" rtlCol="0" anchor="ctr"/>
          <a:lstStyle/>
          <a:p>
            <a:pPr indent="0" marL="0">
              <a:lnSpc>
                <a:spcPct val="110000"/>
              </a:lnSpc>
              <a:buNone/>
            </a:pPr>
            <a:r>
              <a:rPr lang="en-US" sz="1500" dirty="0">
                <a:solidFill>
                  <a:srgbClr val="C7D2DE"/>
                </a:solidFill>
                <a:latin typeface="Segoe UI" pitchFamily="34" charset="0"/>
                <a:ea typeface="Segoe UI" pitchFamily="34" charset="-122"/>
                <a:cs typeface="Segoe UI" pitchFamily="34" charset="-120"/>
              </a:rPr>
              <a:t>A friendlier label to show &amp; search.
</a:t>
            </a:r>
            <a:pPr indent="0" marL="0">
              <a:lnSpc>
                <a:spcPct val="110000"/>
              </a:lnSpc>
              <a:buNone/>
            </a:pPr>
            <a:r>
              <a:rPr lang="en-US" sz="1500" b="1" dirty="0">
                <a:solidFill>
                  <a:srgbClr val="EEF3F9"/>
                </a:solidFill>
                <a:latin typeface="Segoe UI" pitchFamily="34" charset="0"/>
                <a:ea typeface="Segoe UI" pitchFamily="34" charset="-122"/>
                <a:cs typeface="Segoe UI" pitchFamily="34" charset="-120"/>
              </a:rPr>
              <a:t>“01”  →  “Kitchen counter”</a:t>
            </a:r>
            <a:endParaRPr lang="en-US" sz="1500" dirty="0"/>
          </a:p>
        </p:txBody>
      </p:sp>
      <p:sp>
        <p:nvSpPr>
          <p:cNvPr id="11" name="Shape 9"/>
          <p:cNvSpPr/>
          <p:nvPr/>
        </p:nvSpPr>
        <p:spPr>
          <a:xfrm>
            <a:off x="6126480" y="1828800"/>
            <a:ext cx="5486400" cy="1828800"/>
          </a:xfrm>
          <a:prstGeom prst="roundRect">
            <a:avLst>
              <a:gd name="adj" fmla="val 4500"/>
            </a:avLst>
          </a:prstGeom>
          <a:solidFill>
            <a:srgbClr val="161D27"/>
          </a:solidFill>
          <a:ln w="12700">
            <a:solidFill>
              <a:srgbClr val="243042"/>
            </a:solidFill>
            <a:prstDash val="solid"/>
          </a:ln>
        </p:spPr>
      </p:sp>
      <p:sp>
        <p:nvSpPr>
          <p:cNvPr id="12" name="Text 10"/>
          <p:cNvSpPr/>
          <p:nvPr/>
        </p:nvSpPr>
        <p:spPr>
          <a:xfrm>
            <a:off x="6355080" y="1965960"/>
            <a:ext cx="4937760" cy="365760"/>
          </a:xfrm>
          <a:prstGeom prst="rect">
            <a:avLst/>
          </a:prstGeom>
          <a:noFill/>
          <a:ln/>
        </p:spPr>
        <p:txBody>
          <a:bodyPr wrap="square" rtlCol="0" anchor="ctr"/>
          <a:lstStyle/>
          <a:p>
            <a:pPr indent="0" marL="0">
              <a:buNone/>
            </a:pPr>
            <a:r>
              <a:rPr lang="en-US" sz="1500" b="1" dirty="0">
                <a:solidFill>
                  <a:srgbClr val="E8943A"/>
                </a:solidFill>
                <a:latin typeface="Segoe UI" pitchFamily="34" charset="0"/>
                <a:ea typeface="Segoe UI" pitchFamily="34" charset="-122"/>
                <a:cs typeface="Segoe UI" pitchFamily="34" charset="-120"/>
              </a:rPr>
              <a:t>Extra search words</a:t>
            </a:r>
            <a:endParaRPr lang="en-US" sz="1500" dirty="0"/>
          </a:p>
        </p:txBody>
      </p:sp>
      <p:sp>
        <p:nvSpPr>
          <p:cNvPr id="13" name="Text 11"/>
          <p:cNvSpPr/>
          <p:nvPr/>
        </p:nvSpPr>
        <p:spPr>
          <a:xfrm>
            <a:off x="6355080" y="2377440"/>
            <a:ext cx="5029200" cy="1097280"/>
          </a:xfrm>
          <a:prstGeom prst="rect">
            <a:avLst/>
          </a:prstGeom>
          <a:noFill/>
          <a:ln/>
        </p:spPr>
        <p:txBody>
          <a:bodyPr wrap="square" rtlCol="0" anchor="ctr"/>
          <a:lstStyle/>
          <a:p>
            <a:pPr indent="0" marL="0">
              <a:lnSpc>
                <a:spcPct val="110000"/>
              </a:lnSpc>
              <a:buNone/>
            </a:pPr>
            <a:r>
              <a:rPr lang="en-US" sz="1500" dirty="0">
                <a:solidFill>
                  <a:srgbClr val="C7D2DE"/>
                </a:solidFill>
                <a:latin typeface="Segoe UI" pitchFamily="34" charset="0"/>
                <a:ea typeface="Segoe UI" pitchFamily="34" charset="-122"/>
                <a:cs typeface="Segoe UI" pitchFamily="34" charset="-120"/>
              </a:rPr>
              <a:t>Comma-separated terms a visitor might type.
</a:t>
            </a:r>
            <a:pPr indent="0" marL="0">
              <a:lnSpc>
                <a:spcPct val="110000"/>
              </a:lnSpc>
              <a:buNone/>
            </a:pPr>
            <a:r>
              <a:rPr lang="en-US" sz="1500" b="1" dirty="0">
                <a:solidFill>
                  <a:srgbClr val="EEF3F9"/>
                </a:solidFill>
                <a:latin typeface="Segoe UI" pitchFamily="34" charset="0"/>
                <a:ea typeface="Segoe UI" pitchFamily="34" charset="-122"/>
                <a:cs typeface="Segoe UI" pitchFamily="34" charset="-120"/>
              </a:rPr>
              <a:t>“Entrance”  →  front door, lobby, foyer, start</a:t>
            </a:r>
            <a:endParaRPr lang="en-US" sz="1500" dirty="0"/>
          </a:p>
        </p:txBody>
      </p:sp>
      <p:sp>
        <p:nvSpPr>
          <p:cNvPr id="14" name="Shape 12"/>
          <p:cNvSpPr/>
          <p:nvPr/>
        </p:nvSpPr>
        <p:spPr>
          <a:xfrm>
            <a:off x="548640" y="3931920"/>
            <a:ext cx="11064240" cy="1920240"/>
          </a:xfrm>
          <a:prstGeom prst="roundRect">
            <a:avLst>
              <a:gd name="adj" fmla="val 4286"/>
            </a:avLst>
          </a:prstGeom>
          <a:solidFill>
            <a:srgbClr val="11171F"/>
          </a:solidFill>
          <a:ln w="12700">
            <a:solidFill>
              <a:srgbClr val="243042"/>
            </a:solidFill>
            <a:prstDash val="solid"/>
          </a:ln>
        </p:spPr>
      </p:sp>
      <p:sp>
        <p:nvSpPr>
          <p:cNvPr id="15" name="Text 13"/>
          <p:cNvSpPr/>
          <p:nvPr/>
        </p:nvSpPr>
        <p:spPr>
          <a:xfrm>
            <a:off x="868680" y="4160520"/>
            <a:ext cx="10424160" cy="4206240"/>
          </a:xfrm>
          <a:prstGeom prst="rect">
            <a:avLst/>
          </a:prstGeom>
          <a:noFill/>
          <a:ln/>
        </p:spPr>
        <p:txBody>
          <a:bodyPr wrap="square" rtlCol="0" anchor="t"/>
          <a:lstStyle/>
          <a:p>
            <a:pPr marL="203200" indent="-203200">
              <a:lnSpc>
                <a:spcPct val="104000"/>
              </a:lnSpc>
              <a:spcAft>
                <a:spcPts val="1000"/>
              </a:spcAft>
              <a:buSzPct val="100000"/>
              <a:buChar char="•"/>
            </a:pPr>
            <a:r>
              <a:rPr lang="en-US" sz="1500" b="1" dirty="0">
                <a:solidFill>
                  <a:srgbClr val="36D17A"/>
                </a:solidFill>
                <a:latin typeface="Segoe UI" pitchFamily="34" charset="0"/>
                <a:ea typeface="Segoe UI" pitchFamily="34" charset="-122"/>
                <a:cs typeface="Segoe UI" pitchFamily="34" charset="-120"/>
              </a:rPr>
              <a:t>The original name always stays searchable — you never lose anything.</a:t>
            </a:r>
            <a:endParaRPr lang="en-US" sz="1500" dirty="0"/>
          </a:p>
          <a:p>
            <a:pPr marL="203200" indent="-203200">
              <a:lnSpc>
                <a:spcPct val="104000"/>
              </a:lnSpc>
              <a:spcAft>
                <a:spcPts val="1000"/>
              </a:spcAft>
              <a:buSzPct val="100000"/>
              <a:buChar char="•"/>
            </a:pPr>
            <a:r>
              <a:rPr lang="en-US" sz="1500" dirty="0">
                <a:solidFill>
                  <a:srgbClr val="C7D2DE"/>
                </a:solidFill>
                <a:latin typeface="Segoe UI" pitchFamily="34" charset="0"/>
                <a:ea typeface="Segoe UI" pitchFamily="34" charset="-122"/>
                <a:cs typeface="Segoe UI" pitchFamily="34" charset="-120"/>
              </a:rPr>
              <a:t>Each item shows with a thumbnail, so you know exactly what you're renaming.</a:t>
            </a:r>
            <a:endParaRPr lang="en-US" sz="1500" dirty="0"/>
          </a:p>
          <a:p>
            <a:pPr marL="203200" indent="-203200">
              <a:lnSpc>
                <a:spcPct val="104000"/>
              </a:lnSpc>
              <a:spcAft>
                <a:spcPts val="1000"/>
              </a:spcAft>
              <a:buSzPct val="100000"/>
              <a:buChar char="•"/>
            </a:pPr>
            <a:r>
              <a:rPr lang="en-US" sz="1500" dirty="0">
                <a:solidFill>
                  <a:srgbClr val="C7D2DE"/>
                </a:solidFill>
                <a:latin typeface="Segoe UI" pitchFamily="34" charset="0"/>
                <a:ea typeface="Segoe UI" pitchFamily="34" charset="-122"/>
                <a:cs typeface="Segoe UI" pitchFamily="34" charset="-120"/>
              </a:rPr>
              <a:t>Navigation always uses the real underlying media, so nothing breaks.</a:t>
            </a:r>
            <a:endParaRPr lang="en-US" sz="1500" dirty="0"/>
          </a:p>
          <a:p>
            <a:pPr marL="203200" indent="-203200">
              <a:lnSpc>
                <a:spcPct val="104000"/>
              </a:lnSpc>
              <a:spcAft>
                <a:spcPts val="1000"/>
              </a:spcAft>
              <a:buSzPct val="100000"/>
              <a:buChar char="•"/>
            </a:pPr>
            <a:r>
              <a:rPr lang="en-US" sz="1500" dirty="0">
                <a:solidFill>
                  <a:srgbClr val="C7D2DE"/>
                </a:solidFill>
                <a:latin typeface="Segoe UI" pitchFamily="34" charset="0"/>
                <a:ea typeface="Segoe UI" pitchFamily="34" charset="-122"/>
                <a:cs typeface="Segoe UI" pitchFamily="34" charset="-120"/>
              </a:rPr>
              <a:t>All of it is baked into the file as plain text — still 100% offline.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THE SEARCH EXPERIENCE</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Forgiving by design</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9</a:t>
            </a:r>
            <a:endParaRPr lang="en-US" sz="900" dirty="0"/>
          </a:p>
        </p:txBody>
      </p:sp>
      <p:sp>
        <p:nvSpPr>
          <p:cNvPr id="8" name="Shape 6"/>
          <p:cNvSpPr/>
          <p:nvPr/>
        </p:nvSpPr>
        <p:spPr>
          <a:xfrm>
            <a:off x="6766560" y="1874520"/>
            <a:ext cx="4663440" cy="502920"/>
          </a:xfrm>
          <a:prstGeom prst="roundRect">
            <a:avLst>
              <a:gd name="adj" fmla="val 18182"/>
            </a:avLst>
          </a:prstGeom>
          <a:solidFill>
            <a:srgbClr val="121821"/>
          </a:solidFill>
          <a:ln w="25400">
            <a:solidFill>
              <a:srgbClr val="2DA3FF"/>
            </a:solidFill>
            <a:prstDash val="solid"/>
          </a:ln>
        </p:spPr>
      </p:sp>
      <p:sp>
        <p:nvSpPr>
          <p:cNvPr id="9" name="Shape 7"/>
          <p:cNvSpPr/>
          <p:nvPr/>
        </p:nvSpPr>
        <p:spPr>
          <a:xfrm>
            <a:off x="6931152" y="2029968"/>
            <a:ext cx="182880" cy="182880"/>
          </a:xfrm>
          <a:prstGeom prst="ellipse">
            <a:avLst/>
          </a:prstGeom>
          <a:solidFill>
            <a:srgbClr val="0C1016"/>
          </a:solidFill>
          <a:ln w="25400">
            <a:solidFill>
              <a:srgbClr val="2DA3FF"/>
            </a:solidFill>
            <a:prstDash val="solid"/>
          </a:ln>
        </p:spPr>
      </p:sp>
      <p:sp>
        <p:nvSpPr>
          <p:cNvPr id="10" name="Text 8"/>
          <p:cNvSpPr/>
          <p:nvPr/>
        </p:nvSpPr>
        <p:spPr>
          <a:xfrm>
            <a:off x="7269480" y="1874520"/>
            <a:ext cx="3749040" cy="502920"/>
          </a:xfrm>
          <a:prstGeom prst="rect">
            <a:avLst/>
          </a:prstGeom>
          <a:noFill/>
          <a:ln/>
        </p:spPr>
        <p:txBody>
          <a:bodyPr wrap="square" rtlCol="0" anchor="ctr"/>
          <a:lstStyle/>
          <a:p>
            <a:pPr indent="0" marL="0">
              <a:buNone/>
            </a:pPr>
            <a:r>
              <a:rPr lang="en-US" sz="1600" b="1" dirty="0">
                <a:solidFill>
                  <a:srgbClr val="EEF3F9"/>
                </a:solidFill>
                <a:latin typeface="Segoe UI" pitchFamily="34" charset="0"/>
                <a:ea typeface="Segoe UI" pitchFamily="34" charset="-122"/>
                <a:cs typeface="Segoe UI" pitchFamily="34" charset="-120"/>
              </a:rPr>
              <a:t>kitch</a:t>
            </a:r>
            <a:endParaRPr lang="en-US" sz="1600" dirty="0"/>
          </a:p>
        </p:txBody>
      </p:sp>
      <p:sp>
        <p:nvSpPr>
          <p:cNvPr id="11" name="Shape 9"/>
          <p:cNvSpPr/>
          <p:nvPr/>
        </p:nvSpPr>
        <p:spPr>
          <a:xfrm>
            <a:off x="6766560" y="2514600"/>
            <a:ext cx="4663440" cy="1828800"/>
          </a:xfrm>
          <a:prstGeom prst="roundRect">
            <a:avLst>
              <a:gd name="adj" fmla="val 5000"/>
            </a:avLst>
          </a:prstGeom>
          <a:solidFill>
            <a:srgbClr val="0F141C"/>
          </a:solidFill>
          <a:ln w="12700">
            <a:solidFill>
              <a:srgbClr val="243042"/>
            </a:solidFill>
            <a:prstDash val="solid"/>
          </a:ln>
        </p:spPr>
      </p:sp>
      <p:sp>
        <p:nvSpPr>
          <p:cNvPr id="12" name="Shape 10"/>
          <p:cNvSpPr/>
          <p:nvPr/>
        </p:nvSpPr>
        <p:spPr>
          <a:xfrm>
            <a:off x="6839712" y="2606040"/>
            <a:ext cx="4517136" cy="512064"/>
          </a:xfrm>
          <a:prstGeom prst="roundRect">
            <a:avLst>
              <a:gd name="adj" fmla="val 10714"/>
            </a:avLst>
          </a:prstGeom>
          <a:solidFill>
            <a:srgbClr val="16202C"/>
          </a:solidFill>
          <a:ln/>
        </p:spPr>
      </p:sp>
      <p:sp>
        <p:nvSpPr>
          <p:cNvPr id="13" name="Shape 11"/>
          <p:cNvSpPr/>
          <p:nvPr/>
        </p:nvSpPr>
        <p:spPr>
          <a:xfrm>
            <a:off x="6931152" y="2715768"/>
            <a:ext cx="292608" cy="292608"/>
          </a:xfrm>
          <a:prstGeom prst="roundRect">
            <a:avLst>
              <a:gd name="adj" fmla="val 12500"/>
            </a:avLst>
          </a:prstGeom>
          <a:solidFill>
            <a:srgbClr val="27384A"/>
          </a:solidFill>
          <a:ln/>
        </p:spPr>
      </p:sp>
      <p:sp>
        <p:nvSpPr>
          <p:cNvPr id="14" name="Text 12"/>
          <p:cNvSpPr/>
          <p:nvPr/>
        </p:nvSpPr>
        <p:spPr>
          <a:xfrm>
            <a:off x="7333488" y="2642616"/>
            <a:ext cx="2651760" cy="274320"/>
          </a:xfrm>
          <a:prstGeom prst="rect">
            <a:avLst/>
          </a:prstGeom>
          <a:noFill/>
          <a:ln/>
        </p:spPr>
        <p:txBody>
          <a:bodyPr wrap="square" rtlCol="0" anchor="ctr"/>
          <a:lstStyle/>
          <a:p>
            <a:pPr indent="0" marL="0">
              <a:buNone/>
            </a:pPr>
            <a:r>
              <a:rPr lang="en-US" sz="1400" b="1" dirty="0">
                <a:solidFill>
                  <a:srgbClr val="EEF3F9"/>
                </a:solidFill>
                <a:latin typeface="Segoe UI" pitchFamily="34" charset="0"/>
                <a:ea typeface="Segoe UI" pitchFamily="34" charset="-122"/>
                <a:cs typeface="Segoe UI" pitchFamily="34" charset="-120"/>
              </a:rPr>
              <a:t>Kitchen</a:t>
            </a:r>
            <a:endParaRPr lang="en-US" sz="1400" dirty="0"/>
          </a:p>
        </p:txBody>
      </p:sp>
      <p:sp>
        <p:nvSpPr>
          <p:cNvPr id="15" name="Text 13"/>
          <p:cNvSpPr/>
          <p:nvPr/>
        </p:nvSpPr>
        <p:spPr>
          <a:xfrm>
            <a:off x="7333488" y="2880360"/>
            <a:ext cx="2651760" cy="219456"/>
          </a:xfrm>
          <a:prstGeom prst="rect">
            <a:avLst/>
          </a:prstGeom>
          <a:noFill/>
          <a:ln/>
        </p:spPr>
        <p:txBody>
          <a:bodyPr wrap="square" rtlCol="0" anchor="ctr"/>
          <a:lstStyle/>
          <a:p>
            <a:pPr indent="0" marL="0">
              <a:buNone/>
            </a:pPr>
            <a:r>
              <a:rPr lang="en-US" sz="1050" dirty="0">
                <a:solidFill>
                  <a:srgbClr val="9FB2C6"/>
                </a:solidFill>
                <a:latin typeface="Segoe UI" pitchFamily="34" charset="0"/>
                <a:ea typeface="Segoe UI" pitchFamily="34" charset="-122"/>
                <a:cs typeface="Segoe UI" pitchFamily="34" charset="-120"/>
              </a:rPr>
              <a:t>Panorama scene</a:t>
            </a:r>
            <a:endParaRPr lang="en-US" sz="1050" dirty="0"/>
          </a:p>
        </p:txBody>
      </p:sp>
      <p:sp>
        <p:nvSpPr>
          <p:cNvPr id="16" name="Shape 14"/>
          <p:cNvSpPr/>
          <p:nvPr/>
        </p:nvSpPr>
        <p:spPr>
          <a:xfrm>
            <a:off x="9646920" y="2734056"/>
            <a:ext cx="777240" cy="256032"/>
          </a:xfrm>
          <a:prstGeom prst="roundRect">
            <a:avLst>
              <a:gd name="adj" fmla="val 50000"/>
            </a:avLst>
          </a:prstGeom>
          <a:solidFill>
            <a:srgbClr val="123A5C"/>
          </a:solidFill>
          <a:ln/>
        </p:spPr>
      </p:sp>
      <p:sp>
        <p:nvSpPr>
          <p:cNvPr id="17" name="Text 15"/>
          <p:cNvSpPr/>
          <p:nvPr/>
        </p:nvSpPr>
        <p:spPr>
          <a:xfrm>
            <a:off x="9646920" y="2734056"/>
            <a:ext cx="777240" cy="256032"/>
          </a:xfrm>
          <a:prstGeom prst="rect">
            <a:avLst/>
          </a:prstGeom>
          <a:noFill/>
          <a:ln/>
        </p:spPr>
        <p:txBody>
          <a:bodyPr wrap="square" rtlCol="0" anchor="ctr"/>
          <a:lstStyle/>
          <a:p>
            <a:pPr algn="ctr" indent="0" marL="0">
              <a:buNone/>
            </a:pPr>
            <a:r>
              <a:rPr lang="en-US" sz="900" b="1" dirty="0">
                <a:solidFill>
                  <a:srgbClr val="7EC5FF"/>
                </a:solidFill>
                <a:latin typeface="Segoe UI" pitchFamily="34" charset="0"/>
                <a:ea typeface="Segoe UI" pitchFamily="34" charset="-122"/>
                <a:cs typeface="Segoe UI" pitchFamily="34" charset="-120"/>
              </a:rPr>
              <a:t>SCENE</a:t>
            </a:r>
            <a:endParaRPr lang="en-US" sz="900" dirty="0"/>
          </a:p>
        </p:txBody>
      </p:sp>
      <p:sp>
        <p:nvSpPr>
          <p:cNvPr id="18" name="Shape 16"/>
          <p:cNvSpPr/>
          <p:nvPr/>
        </p:nvSpPr>
        <p:spPr>
          <a:xfrm>
            <a:off x="10561320" y="2715768"/>
            <a:ext cx="731520" cy="292608"/>
          </a:xfrm>
          <a:prstGeom prst="roundRect">
            <a:avLst>
              <a:gd name="adj" fmla="val 25000"/>
            </a:avLst>
          </a:prstGeom>
          <a:solidFill>
            <a:srgbClr val="2DA3FF"/>
          </a:solidFill>
          <a:ln/>
        </p:spPr>
      </p:sp>
      <p:sp>
        <p:nvSpPr>
          <p:cNvPr id="19" name="Text 17"/>
          <p:cNvSpPr/>
          <p:nvPr/>
        </p:nvSpPr>
        <p:spPr>
          <a:xfrm>
            <a:off x="10561320" y="2715768"/>
            <a:ext cx="731520" cy="292608"/>
          </a:xfrm>
          <a:prstGeom prst="rect">
            <a:avLst/>
          </a:prstGeom>
          <a:noFill/>
          <a:ln/>
        </p:spPr>
        <p:txBody>
          <a:bodyPr wrap="square" rtlCol="0" anchor="ctr"/>
          <a:lstStyle/>
          <a:p>
            <a:pPr algn="ctr" indent="0" marL="0">
              <a:buNone/>
            </a:pPr>
            <a:r>
              <a:rPr lang="en-US" sz="1000" b="1" dirty="0">
                <a:solidFill>
                  <a:srgbClr val="06121F"/>
                </a:solidFill>
                <a:latin typeface="Segoe UI" pitchFamily="34" charset="0"/>
                <a:ea typeface="Segoe UI" pitchFamily="34" charset="-122"/>
                <a:cs typeface="Segoe UI" pitchFamily="34" charset="-120"/>
              </a:rPr>
              <a:t>Guide</a:t>
            </a:r>
            <a:endParaRPr lang="en-US" sz="1000" dirty="0"/>
          </a:p>
        </p:txBody>
      </p:sp>
      <p:sp>
        <p:nvSpPr>
          <p:cNvPr id="20" name="Shape 18"/>
          <p:cNvSpPr/>
          <p:nvPr/>
        </p:nvSpPr>
        <p:spPr>
          <a:xfrm>
            <a:off x="6931152" y="3264408"/>
            <a:ext cx="292608" cy="292608"/>
          </a:xfrm>
          <a:prstGeom prst="roundRect">
            <a:avLst>
              <a:gd name="adj" fmla="val 12500"/>
            </a:avLst>
          </a:prstGeom>
          <a:solidFill>
            <a:srgbClr val="27384A"/>
          </a:solidFill>
          <a:ln/>
        </p:spPr>
      </p:sp>
      <p:sp>
        <p:nvSpPr>
          <p:cNvPr id="21" name="Text 19"/>
          <p:cNvSpPr/>
          <p:nvPr/>
        </p:nvSpPr>
        <p:spPr>
          <a:xfrm>
            <a:off x="7333488" y="3191256"/>
            <a:ext cx="2651760" cy="274320"/>
          </a:xfrm>
          <a:prstGeom prst="rect">
            <a:avLst/>
          </a:prstGeom>
          <a:noFill/>
          <a:ln/>
        </p:spPr>
        <p:txBody>
          <a:bodyPr wrap="square" rtlCol="0" anchor="ctr"/>
          <a:lstStyle/>
          <a:p>
            <a:pPr indent="0" marL="0">
              <a:buNone/>
            </a:pPr>
            <a:r>
              <a:rPr lang="en-US" sz="1400" b="1" dirty="0">
                <a:solidFill>
                  <a:srgbClr val="EEF3F9"/>
                </a:solidFill>
                <a:latin typeface="Segoe UI" pitchFamily="34" charset="0"/>
                <a:ea typeface="Segoe UI" pitchFamily="34" charset="-122"/>
                <a:cs typeface="Segoe UI" pitchFamily="34" charset="-120"/>
              </a:rPr>
              <a:t>Go to Kitchen</a:t>
            </a:r>
            <a:endParaRPr lang="en-US" sz="1400" dirty="0"/>
          </a:p>
        </p:txBody>
      </p:sp>
      <p:sp>
        <p:nvSpPr>
          <p:cNvPr id="22" name="Text 20"/>
          <p:cNvSpPr/>
          <p:nvPr/>
        </p:nvSpPr>
        <p:spPr>
          <a:xfrm>
            <a:off x="7333488" y="3429000"/>
            <a:ext cx="2651760" cy="219456"/>
          </a:xfrm>
          <a:prstGeom prst="rect">
            <a:avLst/>
          </a:prstGeom>
          <a:noFill/>
          <a:ln/>
        </p:spPr>
        <p:txBody>
          <a:bodyPr wrap="square" rtlCol="0" anchor="ctr"/>
          <a:lstStyle/>
          <a:p>
            <a:pPr indent="0" marL="0">
              <a:buNone/>
            </a:pPr>
            <a:r>
              <a:rPr lang="en-US" sz="1050" dirty="0">
                <a:solidFill>
                  <a:srgbClr val="9FB2C6"/>
                </a:solidFill>
                <a:latin typeface="Segoe UI" pitchFamily="34" charset="0"/>
                <a:ea typeface="Segoe UI" pitchFamily="34" charset="-122"/>
                <a:cs typeface="Segoe UI" pitchFamily="34" charset="-120"/>
              </a:rPr>
              <a:t>in Great Room</a:t>
            </a:r>
            <a:endParaRPr lang="en-US" sz="1050" dirty="0"/>
          </a:p>
        </p:txBody>
      </p:sp>
      <p:sp>
        <p:nvSpPr>
          <p:cNvPr id="23" name="Shape 21"/>
          <p:cNvSpPr/>
          <p:nvPr/>
        </p:nvSpPr>
        <p:spPr>
          <a:xfrm>
            <a:off x="10378440" y="3282696"/>
            <a:ext cx="914400" cy="256032"/>
          </a:xfrm>
          <a:prstGeom prst="roundRect">
            <a:avLst>
              <a:gd name="adj" fmla="val 50000"/>
            </a:avLst>
          </a:prstGeom>
          <a:solidFill>
            <a:srgbClr val="4A2F12"/>
          </a:solidFill>
          <a:ln/>
        </p:spPr>
      </p:sp>
      <p:sp>
        <p:nvSpPr>
          <p:cNvPr id="24" name="Text 22"/>
          <p:cNvSpPr/>
          <p:nvPr/>
        </p:nvSpPr>
        <p:spPr>
          <a:xfrm>
            <a:off x="10378440" y="3282696"/>
            <a:ext cx="914400" cy="256032"/>
          </a:xfrm>
          <a:prstGeom prst="rect">
            <a:avLst/>
          </a:prstGeom>
          <a:noFill/>
          <a:ln/>
        </p:spPr>
        <p:txBody>
          <a:bodyPr wrap="square" rtlCol="0" anchor="ctr"/>
          <a:lstStyle/>
          <a:p>
            <a:pPr algn="ctr" indent="0" marL="0">
              <a:buNone/>
            </a:pPr>
            <a:r>
              <a:rPr lang="en-US" sz="900" b="1" dirty="0">
                <a:solidFill>
                  <a:srgbClr val="F0A85A"/>
                </a:solidFill>
                <a:latin typeface="Segoe UI" pitchFamily="34" charset="0"/>
                <a:ea typeface="Segoe UI" pitchFamily="34" charset="-122"/>
                <a:cs typeface="Segoe UI" pitchFamily="34" charset="-120"/>
              </a:rPr>
              <a:t>HOTSPOT</a:t>
            </a:r>
            <a:endParaRPr lang="en-US" sz="900" dirty="0"/>
          </a:p>
        </p:txBody>
      </p:sp>
      <p:sp>
        <p:nvSpPr>
          <p:cNvPr id="25" name="Shape 23"/>
          <p:cNvSpPr/>
          <p:nvPr/>
        </p:nvSpPr>
        <p:spPr>
          <a:xfrm>
            <a:off x="6931152" y="3813048"/>
            <a:ext cx="292608" cy="292608"/>
          </a:xfrm>
          <a:prstGeom prst="roundRect">
            <a:avLst>
              <a:gd name="adj" fmla="val 12500"/>
            </a:avLst>
          </a:prstGeom>
          <a:solidFill>
            <a:srgbClr val="27384A"/>
          </a:solidFill>
          <a:ln/>
        </p:spPr>
      </p:sp>
      <p:sp>
        <p:nvSpPr>
          <p:cNvPr id="26" name="Text 24"/>
          <p:cNvSpPr/>
          <p:nvPr/>
        </p:nvSpPr>
        <p:spPr>
          <a:xfrm>
            <a:off x="7333488" y="3739896"/>
            <a:ext cx="2651760" cy="274320"/>
          </a:xfrm>
          <a:prstGeom prst="rect">
            <a:avLst/>
          </a:prstGeom>
          <a:noFill/>
          <a:ln/>
        </p:spPr>
        <p:txBody>
          <a:bodyPr wrap="square" rtlCol="0" anchor="ctr"/>
          <a:lstStyle/>
          <a:p>
            <a:pPr indent="0" marL="0">
              <a:buNone/>
            </a:pPr>
            <a:r>
              <a:rPr lang="en-US" sz="1400" b="1" dirty="0">
                <a:solidFill>
                  <a:srgbClr val="EEF3F9"/>
                </a:solidFill>
                <a:latin typeface="Segoe UI" pitchFamily="34" charset="0"/>
                <a:ea typeface="Segoe UI" pitchFamily="34" charset="-122"/>
                <a:cs typeface="Segoe UI" pitchFamily="34" charset="-120"/>
              </a:rPr>
              <a:t>Kohler Prolific</a:t>
            </a:r>
            <a:endParaRPr lang="en-US" sz="1400" dirty="0"/>
          </a:p>
        </p:txBody>
      </p:sp>
      <p:sp>
        <p:nvSpPr>
          <p:cNvPr id="27" name="Text 25"/>
          <p:cNvSpPr/>
          <p:nvPr/>
        </p:nvSpPr>
        <p:spPr>
          <a:xfrm>
            <a:off x="7333488" y="3977640"/>
            <a:ext cx="2651760" cy="219456"/>
          </a:xfrm>
          <a:prstGeom prst="rect">
            <a:avLst/>
          </a:prstGeom>
          <a:noFill/>
          <a:ln/>
        </p:spPr>
        <p:txBody>
          <a:bodyPr wrap="square" rtlCol="0" anchor="ctr"/>
          <a:lstStyle/>
          <a:p>
            <a:pPr indent="0" marL="0">
              <a:buNone/>
            </a:pPr>
            <a:r>
              <a:rPr lang="en-US" sz="1050" dirty="0">
                <a:solidFill>
                  <a:srgbClr val="9FB2C6"/>
                </a:solidFill>
                <a:latin typeface="Segoe UI" pitchFamily="34" charset="0"/>
                <a:ea typeface="Segoe UI" pitchFamily="34" charset="-122"/>
                <a:cs typeface="Segoe UI" pitchFamily="34" charset="-120"/>
              </a:rPr>
              <a:t>in Kitchen</a:t>
            </a:r>
            <a:endParaRPr lang="en-US" sz="1050" dirty="0"/>
          </a:p>
        </p:txBody>
      </p:sp>
      <p:sp>
        <p:nvSpPr>
          <p:cNvPr id="28" name="Shape 26"/>
          <p:cNvSpPr/>
          <p:nvPr/>
        </p:nvSpPr>
        <p:spPr>
          <a:xfrm>
            <a:off x="10378440" y="3831336"/>
            <a:ext cx="914400" cy="256032"/>
          </a:xfrm>
          <a:prstGeom prst="roundRect">
            <a:avLst>
              <a:gd name="adj" fmla="val 50000"/>
            </a:avLst>
          </a:prstGeom>
          <a:solidFill>
            <a:srgbClr val="4A2F12"/>
          </a:solidFill>
          <a:ln/>
        </p:spPr>
      </p:sp>
      <p:sp>
        <p:nvSpPr>
          <p:cNvPr id="29" name="Text 27"/>
          <p:cNvSpPr/>
          <p:nvPr/>
        </p:nvSpPr>
        <p:spPr>
          <a:xfrm>
            <a:off x="10378440" y="3831336"/>
            <a:ext cx="914400" cy="256032"/>
          </a:xfrm>
          <a:prstGeom prst="rect">
            <a:avLst/>
          </a:prstGeom>
          <a:noFill/>
          <a:ln/>
        </p:spPr>
        <p:txBody>
          <a:bodyPr wrap="square" rtlCol="0" anchor="ctr"/>
          <a:lstStyle/>
          <a:p>
            <a:pPr algn="ctr" indent="0" marL="0">
              <a:buNone/>
            </a:pPr>
            <a:r>
              <a:rPr lang="en-US" sz="900" b="1" dirty="0">
                <a:solidFill>
                  <a:srgbClr val="F0A85A"/>
                </a:solidFill>
                <a:latin typeface="Segoe UI" pitchFamily="34" charset="0"/>
                <a:ea typeface="Segoe UI" pitchFamily="34" charset="-122"/>
                <a:cs typeface="Segoe UI" pitchFamily="34" charset="-120"/>
              </a:rPr>
              <a:t>HOTSPOT</a:t>
            </a:r>
            <a:endParaRPr lang="en-US" sz="900" dirty="0"/>
          </a:p>
        </p:txBody>
      </p:sp>
      <p:sp>
        <p:nvSpPr>
          <p:cNvPr id="30" name="Text 28"/>
          <p:cNvSpPr/>
          <p:nvPr/>
        </p:nvSpPr>
        <p:spPr>
          <a:xfrm>
            <a:off x="822960" y="1920240"/>
            <a:ext cx="5669280" cy="4206240"/>
          </a:xfrm>
          <a:prstGeom prst="rect">
            <a:avLst/>
          </a:prstGeom>
          <a:noFill/>
          <a:ln/>
        </p:spPr>
        <p:txBody>
          <a:bodyPr wrap="square" rtlCol="0" anchor="t"/>
          <a:lstStyle/>
          <a:p>
            <a:pPr marL="203200" indent="-203200">
              <a:lnSpc>
                <a:spcPct val="104000"/>
              </a:lnSpc>
              <a:spcAft>
                <a:spcPts val="1200"/>
              </a:spcAft>
              <a:buSzPct val="100000"/>
              <a:buChar char="•"/>
            </a:pPr>
            <a:r>
              <a:rPr lang="en-US" sz="1550" b="1" dirty="0">
                <a:solidFill>
                  <a:srgbClr val="EEF3F9"/>
                </a:solidFill>
                <a:latin typeface="Segoe UI" pitchFamily="34" charset="0"/>
                <a:ea typeface="Segoe UI" pitchFamily="34" charset="-122"/>
                <a:cs typeface="Segoe UI" pitchFamily="34" charset="-120"/>
              </a:rPr>
              <a:t>Case-insensitive — “KITCHEN” = “kitchen”.</a:t>
            </a:r>
            <a:endParaRPr lang="en-US" sz="1550" dirty="0"/>
          </a:p>
          <a:p>
            <a:pPr marL="203200" indent="-203200">
              <a:lnSpc>
                <a:spcPct val="104000"/>
              </a:lnSpc>
              <a:spcAft>
                <a:spcPts val="1200"/>
              </a:spcAft>
              <a:buSzPct val="100000"/>
              <a:buChar char="•"/>
            </a:pPr>
            <a:r>
              <a:rPr lang="en-US" sz="1550" dirty="0">
                <a:solidFill>
                  <a:srgbClr val="C7D2DE"/>
                </a:solidFill>
                <a:latin typeface="Segoe UI" pitchFamily="34" charset="0"/>
                <a:ea typeface="Segoe UI" pitchFamily="34" charset="-122"/>
                <a:cs typeface="Segoe UI" pitchFamily="34" charset="-120"/>
              </a:rPr>
              <a:t>Accent-insensitive — “cafe” finds “café”.</a:t>
            </a:r>
            <a:endParaRPr lang="en-US" sz="1550" dirty="0"/>
          </a:p>
          <a:p>
            <a:pPr marL="203200" indent="-203200">
              <a:lnSpc>
                <a:spcPct val="104000"/>
              </a:lnSpc>
              <a:spcAft>
                <a:spcPts val="1200"/>
              </a:spcAft>
              <a:buSzPct val="100000"/>
              <a:buChar char="•"/>
            </a:pPr>
            <a:r>
              <a:rPr lang="en-US" sz="1550" dirty="0">
                <a:solidFill>
                  <a:srgbClr val="C7D2DE"/>
                </a:solidFill>
                <a:latin typeface="Segoe UI" pitchFamily="34" charset="0"/>
                <a:ea typeface="Segoe UI" pitchFamily="34" charset="-122"/>
                <a:cs typeface="Segoe UI" pitchFamily="34" charset="-120"/>
              </a:rPr>
              <a:t>Typo-tolerant — “bedrom”, “kitchn”, “entrence” still hit.</a:t>
            </a:r>
            <a:endParaRPr lang="en-US" sz="1550" dirty="0"/>
          </a:p>
          <a:p>
            <a:pPr marL="203200" indent="-203200">
              <a:lnSpc>
                <a:spcPct val="104000"/>
              </a:lnSpc>
              <a:spcAft>
                <a:spcPts val="1200"/>
              </a:spcAft>
              <a:buSzPct val="100000"/>
              <a:buChar char="•"/>
            </a:pPr>
            <a:r>
              <a:rPr lang="en-US" sz="1550" dirty="0">
                <a:solidFill>
                  <a:srgbClr val="C7D2DE"/>
                </a:solidFill>
                <a:latin typeface="Segoe UI" pitchFamily="34" charset="0"/>
                <a:ea typeface="Segoe UI" pitchFamily="34" charset="-122"/>
                <a:cs typeface="Segoe UI" pitchFamily="34" charset="-120"/>
              </a:rPr>
              <a:t>Multi-word — “master bed” → “Master Bedroom”.</a:t>
            </a:r>
            <a:endParaRPr lang="en-US" sz="1550" dirty="0"/>
          </a:p>
          <a:p>
            <a:pPr marL="203200" indent="-203200">
              <a:lnSpc>
                <a:spcPct val="104000"/>
              </a:lnSpc>
              <a:spcAft>
                <a:spcPts val="1200"/>
              </a:spcAft>
              <a:buSzPct val="100000"/>
              <a:buChar char="•"/>
            </a:pPr>
            <a:r>
              <a:rPr lang="en-US" sz="1550" dirty="0">
                <a:solidFill>
                  <a:srgbClr val="C7D2DE"/>
                </a:solidFill>
                <a:latin typeface="Segoe UI" pitchFamily="34" charset="0"/>
                <a:ea typeface="Segoe UI" pitchFamily="34" charset="-122"/>
                <a:cs typeface="Segoe UI" pitchFamily="34" charset="-120"/>
              </a:rPr>
              <a:t>Browse-all — open the box empty to see everything grouped by type.</a:t>
            </a:r>
            <a:endParaRPr lang="en-US" sz="1550" dirty="0"/>
          </a:p>
          <a:p>
            <a:pPr marL="203200" indent="-203200">
              <a:lnSpc>
                <a:spcPct val="104000"/>
              </a:lnSpc>
              <a:spcAft>
                <a:spcPts val="1200"/>
              </a:spcAft>
              <a:buSzPct val="100000"/>
              <a:buChar char="•"/>
            </a:pPr>
            <a:r>
              <a:rPr lang="en-US" sz="1550" dirty="0">
                <a:solidFill>
                  <a:srgbClr val="C7D2DE"/>
                </a:solidFill>
                <a:latin typeface="Segoe UI" pitchFamily="34" charset="0"/>
                <a:ea typeface="Segoe UI" pitchFamily="34" charset="-122"/>
                <a:cs typeface="Segoe UI" pitchFamily="34" charset="-120"/>
              </a:rPr>
              <a:t>Results show the type (SCENE / HOTSPOT) and where each hotspot lives.</a:t>
            </a:r>
            <a:endParaRPr lang="en-US" sz="1550" dirty="0"/>
          </a:p>
        </p:txBody>
      </p:sp>
      <p:sp>
        <p:nvSpPr>
          <p:cNvPr id="31" name="Text 29"/>
          <p:cNvSpPr/>
          <p:nvPr/>
        </p:nvSpPr>
        <p:spPr>
          <a:xfrm>
            <a:off x="6766560" y="5486400"/>
            <a:ext cx="4663440" cy="548640"/>
          </a:xfrm>
          <a:prstGeom prst="rect">
            <a:avLst/>
          </a:prstGeom>
          <a:noFill/>
          <a:ln/>
        </p:spPr>
        <p:txBody>
          <a:bodyPr wrap="square" rtlCol="0" anchor="ctr"/>
          <a:lstStyle/>
          <a:p>
            <a:pPr algn="ctr" indent="0" marL="0">
              <a:buNone/>
            </a:pPr>
            <a:r>
              <a:rPr lang="en-US" sz="1250" i="1" dirty="0">
                <a:solidFill>
                  <a:srgbClr val="9FB2C6"/>
                </a:solidFill>
                <a:latin typeface="Segoe UI" pitchFamily="34" charset="0"/>
                <a:ea typeface="Segoe UI" pitchFamily="34" charset="-122"/>
                <a:cs typeface="Segoe UI" pitchFamily="34" charset="-120"/>
              </a:rPr>
              <a:t>Example: typing “kitch” matches the Kitchen scene and every hotspot inside 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GUIDED NAVIGATION</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Don't just jump — guide the visitor there</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10</a:t>
            </a:r>
            <a:endParaRPr lang="en-US" sz="900" dirty="0"/>
          </a:p>
        </p:txBody>
      </p:sp>
      <p:sp>
        <p:nvSpPr>
          <p:cNvPr id="8" name="Shape 6"/>
          <p:cNvSpPr/>
          <p:nvPr/>
        </p:nvSpPr>
        <p:spPr>
          <a:xfrm>
            <a:off x="548640" y="1828800"/>
            <a:ext cx="5394960" cy="4023360"/>
          </a:xfrm>
          <a:prstGeom prst="roundRect">
            <a:avLst>
              <a:gd name="adj" fmla="val 2045"/>
            </a:avLst>
          </a:prstGeom>
          <a:solidFill>
            <a:srgbClr val="161D27"/>
          </a:solidFill>
          <a:ln w="12700">
            <a:solidFill>
              <a:srgbClr val="243042"/>
            </a:solidFill>
            <a:prstDash val="solid"/>
          </a:ln>
        </p:spPr>
      </p:sp>
      <p:sp>
        <p:nvSpPr>
          <p:cNvPr id="9" name="Text 7"/>
          <p:cNvSpPr/>
          <p:nvPr/>
        </p:nvSpPr>
        <p:spPr>
          <a:xfrm>
            <a:off x="777240" y="2011680"/>
            <a:ext cx="4937760" cy="457200"/>
          </a:xfrm>
          <a:prstGeom prst="rect">
            <a:avLst/>
          </a:prstGeom>
          <a:noFill/>
          <a:ln/>
        </p:spPr>
        <p:txBody>
          <a:bodyPr wrap="square" rtlCol="0" anchor="ctr"/>
          <a:lstStyle/>
          <a:p>
            <a:pPr indent="0" marL="0">
              <a:buNone/>
            </a:pPr>
            <a:r>
              <a:rPr lang="en-US" sz="2000" b="1" dirty="0">
                <a:solidFill>
                  <a:srgbClr val="2DA3FF"/>
                </a:solidFill>
                <a:latin typeface="Segoe UI" pitchFamily="34" charset="0"/>
                <a:ea typeface="Segoe UI" pitchFamily="34" charset="-122"/>
                <a:cs typeface="Segoe UI" pitchFamily="34" charset="-120"/>
              </a:rPr>
              <a:t>Jump</a:t>
            </a:r>
            <a:endParaRPr lang="en-US" sz="2000" dirty="0"/>
          </a:p>
        </p:txBody>
      </p:sp>
      <p:sp>
        <p:nvSpPr>
          <p:cNvPr id="10" name="Text 8"/>
          <p:cNvSpPr/>
          <p:nvPr/>
        </p:nvSpPr>
        <p:spPr>
          <a:xfrm>
            <a:off x="777240" y="2514600"/>
            <a:ext cx="4937760" cy="548640"/>
          </a:xfrm>
          <a:prstGeom prst="rect">
            <a:avLst/>
          </a:prstGeom>
          <a:noFill/>
          <a:ln/>
        </p:spPr>
        <p:txBody>
          <a:bodyPr wrap="square" rtlCol="0" anchor="ctr"/>
          <a:lstStyle/>
          <a:p>
            <a:pPr indent="0" marL="0">
              <a:buNone/>
            </a:pPr>
            <a:r>
              <a:rPr lang="en-US" sz="1400" dirty="0">
                <a:solidFill>
                  <a:srgbClr val="9FB2C6"/>
                </a:solidFill>
                <a:latin typeface="Segoe UI" pitchFamily="34" charset="0"/>
                <a:ea typeface="Segoe UI" pitchFamily="34" charset="-122"/>
                <a:cs typeface="Segoe UI" pitchFamily="34" charset="-120"/>
              </a:rPr>
              <a:t>Go straight to the scene — instant teleport.</a:t>
            </a:r>
            <a:endParaRPr lang="en-US" sz="1400" dirty="0"/>
          </a:p>
        </p:txBody>
      </p:sp>
      <p:sp>
        <p:nvSpPr>
          <p:cNvPr id="11" name="Shape 9"/>
          <p:cNvSpPr/>
          <p:nvPr/>
        </p:nvSpPr>
        <p:spPr>
          <a:xfrm>
            <a:off x="777240" y="3200400"/>
            <a:ext cx="4937760" cy="0"/>
          </a:xfrm>
          <a:prstGeom prst="line">
            <a:avLst/>
          </a:prstGeom>
          <a:noFill/>
          <a:ln w="12700">
            <a:solidFill>
              <a:srgbClr val="243042"/>
            </a:solidFill>
            <a:prstDash val="solid"/>
          </a:ln>
        </p:spPr>
      </p:sp>
      <p:sp>
        <p:nvSpPr>
          <p:cNvPr id="12" name="Text 10"/>
          <p:cNvSpPr/>
          <p:nvPr/>
        </p:nvSpPr>
        <p:spPr>
          <a:xfrm>
            <a:off x="777240" y="3383280"/>
            <a:ext cx="4937760" cy="457200"/>
          </a:xfrm>
          <a:prstGeom prst="rect">
            <a:avLst/>
          </a:prstGeom>
          <a:noFill/>
          <a:ln/>
        </p:spPr>
        <p:txBody>
          <a:bodyPr wrap="square" rtlCol="0" anchor="ctr"/>
          <a:lstStyle/>
          <a:p>
            <a:pPr indent="0" marL="0">
              <a:buNone/>
            </a:pPr>
            <a:r>
              <a:rPr lang="en-US" sz="2000" b="1" dirty="0">
                <a:solidFill>
                  <a:srgbClr val="B483FF"/>
                </a:solidFill>
                <a:latin typeface="Segoe UI" pitchFamily="34" charset="0"/>
                <a:ea typeface="Segoe UI" pitchFamily="34" charset="-122"/>
                <a:cs typeface="Segoe UI" pitchFamily="34" charset="-120"/>
              </a:rPr>
              <a:t>Guide me</a:t>
            </a:r>
            <a:endParaRPr lang="en-US" sz="2000" dirty="0"/>
          </a:p>
        </p:txBody>
      </p:sp>
      <p:sp>
        <p:nvSpPr>
          <p:cNvPr id="13" name="Text 11"/>
          <p:cNvSpPr/>
          <p:nvPr/>
        </p:nvSpPr>
        <p:spPr>
          <a:xfrm>
            <a:off x="868680" y="3931920"/>
            <a:ext cx="4846320" cy="4206240"/>
          </a:xfrm>
          <a:prstGeom prst="rect">
            <a:avLst/>
          </a:prstGeom>
          <a:noFill/>
          <a:ln/>
        </p:spPr>
        <p:txBody>
          <a:bodyPr wrap="square" rtlCol="0" anchor="t"/>
          <a:lstStyle/>
          <a:p>
            <a:pPr marL="203200" indent="-203200">
              <a:lnSpc>
                <a:spcPct val="104000"/>
              </a:lnSpc>
              <a:spcAft>
                <a:spcPts val="900"/>
              </a:spcAft>
              <a:buSzPct val="100000"/>
              <a:buChar char="•"/>
            </a:pPr>
            <a:r>
              <a:rPr lang="en-US" sz="1450" dirty="0">
                <a:solidFill>
                  <a:srgbClr val="C7D2DE"/>
                </a:solidFill>
                <a:latin typeface="Segoe UI" pitchFamily="34" charset="0"/>
                <a:ea typeface="Segoe UI" pitchFamily="34" charset="-122"/>
                <a:cs typeface="Segoe UI" pitchFamily="34" charset="-120"/>
              </a:rPr>
              <a:t>The viewer walks the visitor there, scene by scene.</a:t>
            </a:r>
            <a:endParaRPr lang="en-US" sz="1450" dirty="0"/>
          </a:p>
          <a:p>
            <a:pPr marL="203200" indent="-203200">
              <a:lnSpc>
                <a:spcPct val="104000"/>
              </a:lnSpc>
              <a:spcAft>
                <a:spcPts val="900"/>
              </a:spcAft>
              <a:buSzPct val="100000"/>
              <a:buChar char="•"/>
            </a:pPr>
            <a:r>
              <a:rPr lang="en-US" sz="1450" dirty="0">
                <a:solidFill>
                  <a:srgbClr val="C7D2DE"/>
                </a:solidFill>
                <a:latin typeface="Segoe UI" pitchFamily="34" charset="0"/>
                <a:ea typeface="Segoe UI" pitchFamily="34" charset="-122"/>
                <a:cs typeface="Segoe UI" pitchFamily="34" charset="-120"/>
              </a:rPr>
              <a:t>It turns toward each doorway and steps through.</a:t>
            </a:r>
            <a:endParaRPr lang="en-US" sz="1450" dirty="0"/>
          </a:p>
          <a:p>
            <a:pPr marL="203200" indent="-203200">
              <a:lnSpc>
                <a:spcPct val="104000"/>
              </a:lnSpc>
              <a:spcAft>
                <a:spcPts val="900"/>
              </a:spcAft>
              <a:buSzPct val="100000"/>
              <a:buChar char="•"/>
            </a:pPr>
            <a:r>
              <a:rPr lang="en-US" sz="1450" dirty="0">
                <a:solidFill>
                  <a:srgbClr val="C7D2DE"/>
                </a:solidFill>
                <a:latin typeface="Segoe UI" pitchFamily="34" charset="0"/>
                <a:ea typeface="Segoe UI" pitchFamily="34" charset="-122"/>
                <a:cs typeface="Segoe UI" pitchFamily="34" charset="-120"/>
              </a:rPr>
              <a:t>A Stop button lets them bail out anytime.</a:t>
            </a:r>
            <a:endParaRPr lang="en-US" sz="1450" dirty="0"/>
          </a:p>
        </p:txBody>
      </p:sp>
      <p:sp>
        <p:nvSpPr>
          <p:cNvPr id="14" name="Shape 12"/>
          <p:cNvSpPr/>
          <p:nvPr/>
        </p:nvSpPr>
        <p:spPr>
          <a:xfrm>
            <a:off x="6126480" y="1828800"/>
            <a:ext cx="5486400" cy="4023360"/>
          </a:xfrm>
          <a:prstGeom prst="roundRect">
            <a:avLst>
              <a:gd name="adj" fmla="val 2045"/>
            </a:avLst>
          </a:prstGeom>
          <a:solidFill>
            <a:srgbClr val="11171F"/>
          </a:solidFill>
          <a:ln w="12700">
            <a:solidFill>
              <a:srgbClr val="243042"/>
            </a:solidFill>
            <a:prstDash val="solid"/>
          </a:ln>
        </p:spPr>
      </p:sp>
      <p:sp>
        <p:nvSpPr>
          <p:cNvPr id="15" name="Text 13"/>
          <p:cNvSpPr/>
          <p:nvPr/>
        </p:nvSpPr>
        <p:spPr>
          <a:xfrm>
            <a:off x="6355080" y="2011680"/>
            <a:ext cx="5029200" cy="365760"/>
          </a:xfrm>
          <a:prstGeom prst="rect">
            <a:avLst/>
          </a:prstGeom>
          <a:noFill/>
          <a:ln/>
        </p:spPr>
        <p:txBody>
          <a:bodyPr wrap="square" rtlCol="0" anchor="ctr"/>
          <a:lstStyle/>
          <a:p>
            <a:pPr indent="0" marL="0">
              <a:buNone/>
            </a:pPr>
            <a:r>
              <a:rPr lang="en-US" sz="1400" b="1" dirty="0">
                <a:solidFill>
                  <a:srgbClr val="2DA3FF"/>
                </a:solidFill>
                <a:latin typeface="Segoe UI" pitchFamily="34" charset="0"/>
                <a:ea typeface="Segoe UI" pitchFamily="34" charset="-122"/>
                <a:cs typeface="Segoe UI" pitchFamily="34" charset="-120"/>
              </a:rPr>
              <a:t>Why it matters</a:t>
            </a:r>
            <a:endParaRPr lang="en-US" sz="1400" dirty="0"/>
          </a:p>
        </p:txBody>
      </p:sp>
      <p:sp>
        <p:nvSpPr>
          <p:cNvPr id="16" name="Text 14"/>
          <p:cNvSpPr/>
          <p:nvPr/>
        </p:nvSpPr>
        <p:spPr>
          <a:xfrm>
            <a:off x="6446520" y="2468880"/>
            <a:ext cx="4937760" cy="4206240"/>
          </a:xfrm>
          <a:prstGeom prst="rect">
            <a:avLst/>
          </a:prstGeom>
          <a:noFill/>
          <a:ln/>
        </p:spPr>
        <p:txBody>
          <a:bodyPr wrap="square" rtlCol="0" anchor="t"/>
          <a:lstStyle/>
          <a:p>
            <a:pPr marL="203200" indent="-203200">
              <a:lnSpc>
                <a:spcPct val="104000"/>
              </a:lnSpc>
              <a:spcAft>
                <a:spcPts val="1100"/>
              </a:spcAft>
              <a:buSzPct val="100000"/>
              <a:buChar char="•"/>
            </a:pPr>
            <a:r>
              <a:rPr lang="en-US" sz="1450" b="1" dirty="0">
                <a:solidFill>
                  <a:srgbClr val="EEF3F9"/>
                </a:solidFill>
                <a:latin typeface="Segoe UI" pitchFamily="34" charset="0"/>
                <a:ea typeface="Segoe UI" pitchFamily="34" charset="-122"/>
                <a:cs typeface="Segoe UI" pitchFamily="34" charset="-120"/>
              </a:rPr>
              <a:t>Visitors keep their sense of place — they see the route, not a teleport.</a:t>
            </a:r>
            <a:endParaRPr lang="en-US" sz="1450" dirty="0"/>
          </a:p>
          <a:p>
            <a:pPr marL="203200" indent="-203200">
              <a:lnSpc>
                <a:spcPct val="104000"/>
              </a:lnSpc>
              <a:spcAft>
                <a:spcPts val="1100"/>
              </a:spcAft>
              <a:buSzPct val="100000"/>
              <a:buChar char="•"/>
            </a:pPr>
            <a:r>
              <a:rPr lang="en-US" sz="1450" dirty="0">
                <a:solidFill>
                  <a:srgbClr val="C7D2DE"/>
                </a:solidFill>
                <a:latin typeface="Segoe UI" pitchFamily="34" charset="0"/>
                <a:ea typeface="Segoe UI" pitchFamily="34" charset="-122"/>
                <a:cs typeface="Segoe UI" pitchFamily="34" charset="-120"/>
              </a:rPr>
              <a:t>Great for orientation, wayfinding and storytelling.</a:t>
            </a:r>
            <a:endParaRPr lang="en-US" sz="1450" dirty="0"/>
          </a:p>
          <a:p>
            <a:pPr marL="203200" indent="-203200">
              <a:lnSpc>
                <a:spcPct val="104000"/>
              </a:lnSpc>
              <a:spcAft>
                <a:spcPts val="1100"/>
              </a:spcAft>
              <a:buSzPct val="100000"/>
              <a:buChar char="•"/>
            </a:pPr>
            <a:r>
              <a:rPr lang="en-US" sz="1450" dirty="0">
                <a:solidFill>
                  <a:srgbClr val="C7D2DE"/>
                </a:solidFill>
                <a:latin typeface="Segoe UI" pitchFamily="34" charset="0"/>
                <a:ea typeface="Segoe UI" pitchFamily="34" charset="-122"/>
                <a:cs typeface="Segoe UI" pitchFamily="34" charset="-120"/>
              </a:rPr>
              <a:t>Powered entirely by the tour's own scene connections.</a:t>
            </a:r>
            <a:endParaRPr lang="en-US" sz="1450" dirty="0"/>
          </a:p>
          <a:p>
            <a:pPr marL="203200" indent="-203200">
              <a:lnSpc>
                <a:spcPct val="104000"/>
              </a:lnSpc>
              <a:spcAft>
                <a:spcPts val="1100"/>
              </a:spcAft>
              <a:buSzPct val="100000"/>
              <a:buChar char="•"/>
            </a:pPr>
            <a:r>
              <a:rPr lang="en-US" sz="1450" dirty="0">
                <a:solidFill>
                  <a:srgbClr val="C7D2DE"/>
                </a:solidFill>
                <a:latin typeface="Segoe UI" pitchFamily="34" charset="0"/>
                <a:ea typeface="Segoe UI" pitchFamily="34" charset="-122"/>
                <a:cs typeface="Segoe UI" pitchFamily="34" charset="-120"/>
              </a:rPr>
              <a:t>Turn it off in Step 2 if you prefer plain jumps.</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GUIDED NAVIGATION · HOW IT WORKS</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Shortest route, shortest turn</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11</a:t>
            </a:r>
            <a:endParaRPr lang="en-US" sz="900" dirty="0"/>
          </a:p>
        </p:txBody>
      </p:sp>
      <p:sp>
        <p:nvSpPr>
          <p:cNvPr id="8" name="Shape 6"/>
          <p:cNvSpPr/>
          <p:nvPr/>
        </p:nvSpPr>
        <p:spPr>
          <a:xfrm>
            <a:off x="548640" y="2011680"/>
            <a:ext cx="868680" cy="868680"/>
          </a:xfrm>
          <a:prstGeom prst="ellipse">
            <a:avLst/>
          </a:prstGeom>
          <a:solidFill>
            <a:srgbClr val="16202C"/>
          </a:solidFill>
          <a:ln w="38100">
            <a:solidFill>
              <a:srgbClr val="2DA3FF"/>
            </a:solidFill>
            <a:prstDash val="solid"/>
          </a:ln>
        </p:spPr>
      </p:sp>
      <p:sp>
        <p:nvSpPr>
          <p:cNvPr id="9" name="Text 7"/>
          <p:cNvSpPr/>
          <p:nvPr/>
        </p:nvSpPr>
        <p:spPr>
          <a:xfrm>
            <a:off x="320040" y="2011680"/>
            <a:ext cx="1325880" cy="868680"/>
          </a:xfrm>
          <a:prstGeom prst="rect">
            <a:avLst/>
          </a:prstGeom>
          <a:noFill/>
          <a:ln/>
        </p:spPr>
        <p:txBody>
          <a:bodyPr wrap="square" rtlCol="0" anchor="ctr"/>
          <a:lstStyle/>
          <a:p>
            <a:pPr algn="ctr" indent="0" marL="0">
              <a:buNone/>
            </a:pPr>
            <a:r>
              <a:rPr lang="en-US" sz="1200" b="1" dirty="0">
                <a:solidFill>
                  <a:srgbClr val="EEF3F9"/>
                </a:solidFill>
                <a:latin typeface="Segoe UI" pitchFamily="34" charset="0"/>
                <a:ea typeface="Segoe UI" pitchFamily="34" charset="-122"/>
                <a:cs typeface="Segoe UI" pitchFamily="34" charset="-120"/>
              </a:rPr>
              <a:t>Pool</a:t>
            </a:r>
            <a:endParaRPr lang="en-US" sz="1200" dirty="0"/>
          </a:p>
        </p:txBody>
      </p:sp>
      <p:sp>
        <p:nvSpPr>
          <p:cNvPr id="10" name="Text 8"/>
          <p:cNvSpPr/>
          <p:nvPr/>
        </p:nvSpPr>
        <p:spPr>
          <a:xfrm>
            <a:off x="320040" y="2898648"/>
            <a:ext cx="1325880" cy="274320"/>
          </a:xfrm>
          <a:prstGeom prst="rect">
            <a:avLst/>
          </a:prstGeom>
          <a:noFill/>
          <a:ln/>
        </p:spPr>
        <p:txBody>
          <a:bodyPr wrap="square" rtlCol="0" anchor="ctr"/>
          <a:lstStyle/>
          <a:p>
            <a:pPr algn="ctr" indent="0" marL="0">
              <a:buNone/>
            </a:pPr>
            <a:r>
              <a:rPr lang="en-US" sz="1100" dirty="0">
                <a:solidFill>
                  <a:srgbClr val="9FB2C6"/>
                </a:solidFill>
                <a:latin typeface="Segoe UI" pitchFamily="34" charset="0"/>
                <a:ea typeface="Segoe UI" pitchFamily="34" charset="-122"/>
                <a:cs typeface="Segoe UI" pitchFamily="34" charset="-120"/>
              </a:rPr>
              <a:t>start</a:t>
            </a:r>
            <a:endParaRPr lang="en-US" sz="1100" dirty="0"/>
          </a:p>
        </p:txBody>
      </p:sp>
      <p:sp>
        <p:nvSpPr>
          <p:cNvPr id="11" name="Shape 9"/>
          <p:cNvSpPr/>
          <p:nvPr/>
        </p:nvSpPr>
        <p:spPr>
          <a:xfrm>
            <a:off x="1508760" y="2446020"/>
            <a:ext cx="2356104" cy="0"/>
          </a:xfrm>
          <a:prstGeom prst="line">
            <a:avLst/>
          </a:prstGeom>
          <a:noFill/>
          <a:ln w="31750">
            <a:solidFill>
              <a:srgbClr val="B483FF"/>
            </a:solidFill>
            <a:prstDash val="solid"/>
            <a:tailEnd type="triangle"/>
          </a:ln>
        </p:spPr>
      </p:sp>
      <p:sp>
        <p:nvSpPr>
          <p:cNvPr id="12" name="Shape 10"/>
          <p:cNvSpPr/>
          <p:nvPr/>
        </p:nvSpPr>
        <p:spPr>
          <a:xfrm>
            <a:off x="3956304" y="2011680"/>
            <a:ext cx="868680" cy="868680"/>
          </a:xfrm>
          <a:prstGeom prst="ellipse">
            <a:avLst/>
          </a:prstGeom>
          <a:solidFill>
            <a:srgbClr val="16202C"/>
          </a:solidFill>
          <a:ln w="38100">
            <a:solidFill>
              <a:srgbClr val="3A4A5E"/>
            </a:solidFill>
            <a:prstDash val="solid"/>
          </a:ln>
        </p:spPr>
      </p:sp>
      <p:sp>
        <p:nvSpPr>
          <p:cNvPr id="13" name="Text 11"/>
          <p:cNvSpPr/>
          <p:nvPr/>
        </p:nvSpPr>
        <p:spPr>
          <a:xfrm>
            <a:off x="3727704" y="2011680"/>
            <a:ext cx="1325880" cy="868680"/>
          </a:xfrm>
          <a:prstGeom prst="rect">
            <a:avLst/>
          </a:prstGeom>
          <a:noFill/>
          <a:ln/>
        </p:spPr>
        <p:txBody>
          <a:bodyPr wrap="square" rtlCol="0" anchor="ctr"/>
          <a:lstStyle/>
          <a:p>
            <a:pPr algn="ctr" indent="0" marL="0">
              <a:buNone/>
            </a:pPr>
            <a:r>
              <a:rPr lang="en-US" sz="1200" b="1" dirty="0">
                <a:solidFill>
                  <a:srgbClr val="EEF3F9"/>
                </a:solidFill>
                <a:latin typeface="Segoe UI" pitchFamily="34" charset="0"/>
                <a:ea typeface="Segoe UI" pitchFamily="34" charset="-122"/>
                <a:cs typeface="Segoe UI" pitchFamily="34" charset="-120"/>
              </a:rPr>
              <a:t>Master</a:t>
            </a:r>
            <a:endParaRPr lang="en-US" sz="1200" dirty="0"/>
          </a:p>
          <a:p>
            <a:pPr algn="ctr" indent="0" marL="0">
              <a:buNone/>
            </a:pPr>
            <a:r>
              <a:rPr lang="en-US" sz="1200" b="1" dirty="0">
                <a:solidFill>
                  <a:srgbClr val="EEF3F9"/>
                </a:solidFill>
                <a:latin typeface="Segoe UI" pitchFamily="34" charset="0"/>
                <a:ea typeface="Segoe UI" pitchFamily="34" charset="-122"/>
                <a:cs typeface="Segoe UI" pitchFamily="34" charset="-120"/>
              </a:rPr>
              <a:t>Bedroom</a:t>
            </a:r>
            <a:endParaRPr lang="en-US" sz="1200" dirty="0"/>
          </a:p>
        </p:txBody>
      </p:sp>
      <p:sp>
        <p:nvSpPr>
          <p:cNvPr id="14" name="Shape 12"/>
          <p:cNvSpPr/>
          <p:nvPr/>
        </p:nvSpPr>
        <p:spPr>
          <a:xfrm>
            <a:off x="4916424" y="2446020"/>
            <a:ext cx="2356104" cy="0"/>
          </a:xfrm>
          <a:prstGeom prst="line">
            <a:avLst/>
          </a:prstGeom>
          <a:noFill/>
          <a:ln w="31750">
            <a:solidFill>
              <a:srgbClr val="B483FF"/>
            </a:solidFill>
            <a:prstDash val="solid"/>
            <a:tailEnd type="triangle"/>
          </a:ln>
        </p:spPr>
      </p:sp>
      <p:sp>
        <p:nvSpPr>
          <p:cNvPr id="15" name="Shape 13"/>
          <p:cNvSpPr/>
          <p:nvPr/>
        </p:nvSpPr>
        <p:spPr>
          <a:xfrm>
            <a:off x="7363968" y="2011680"/>
            <a:ext cx="868680" cy="868680"/>
          </a:xfrm>
          <a:prstGeom prst="ellipse">
            <a:avLst/>
          </a:prstGeom>
          <a:solidFill>
            <a:srgbClr val="16202C"/>
          </a:solidFill>
          <a:ln w="38100">
            <a:solidFill>
              <a:srgbClr val="3A4A5E"/>
            </a:solidFill>
            <a:prstDash val="solid"/>
          </a:ln>
        </p:spPr>
      </p:sp>
      <p:sp>
        <p:nvSpPr>
          <p:cNvPr id="16" name="Text 14"/>
          <p:cNvSpPr/>
          <p:nvPr/>
        </p:nvSpPr>
        <p:spPr>
          <a:xfrm>
            <a:off x="7135368" y="2011680"/>
            <a:ext cx="1325880" cy="868680"/>
          </a:xfrm>
          <a:prstGeom prst="rect">
            <a:avLst/>
          </a:prstGeom>
          <a:noFill/>
          <a:ln/>
        </p:spPr>
        <p:txBody>
          <a:bodyPr wrap="square" rtlCol="0" anchor="ctr"/>
          <a:lstStyle/>
          <a:p>
            <a:pPr algn="ctr" indent="0" marL="0">
              <a:buNone/>
            </a:pPr>
            <a:r>
              <a:rPr lang="en-US" sz="1200" b="1" dirty="0">
                <a:solidFill>
                  <a:srgbClr val="EEF3F9"/>
                </a:solidFill>
                <a:latin typeface="Segoe UI" pitchFamily="34" charset="0"/>
                <a:ea typeface="Segoe UI" pitchFamily="34" charset="-122"/>
                <a:cs typeface="Segoe UI" pitchFamily="34" charset="-120"/>
              </a:rPr>
              <a:t>Great</a:t>
            </a:r>
            <a:endParaRPr lang="en-US" sz="1200" dirty="0"/>
          </a:p>
          <a:p>
            <a:pPr algn="ctr" indent="0" marL="0">
              <a:buNone/>
            </a:pPr>
            <a:r>
              <a:rPr lang="en-US" sz="1200" b="1" dirty="0">
                <a:solidFill>
                  <a:srgbClr val="EEF3F9"/>
                </a:solidFill>
                <a:latin typeface="Segoe UI" pitchFamily="34" charset="0"/>
                <a:ea typeface="Segoe UI" pitchFamily="34" charset="-122"/>
                <a:cs typeface="Segoe UI" pitchFamily="34" charset="-120"/>
              </a:rPr>
              <a:t>Room</a:t>
            </a:r>
            <a:endParaRPr lang="en-US" sz="1200" dirty="0"/>
          </a:p>
        </p:txBody>
      </p:sp>
      <p:sp>
        <p:nvSpPr>
          <p:cNvPr id="17" name="Shape 15"/>
          <p:cNvSpPr/>
          <p:nvPr/>
        </p:nvSpPr>
        <p:spPr>
          <a:xfrm>
            <a:off x="8324088" y="2446020"/>
            <a:ext cx="2356104" cy="0"/>
          </a:xfrm>
          <a:prstGeom prst="line">
            <a:avLst/>
          </a:prstGeom>
          <a:noFill/>
          <a:ln w="31750">
            <a:solidFill>
              <a:srgbClr val="B483FF"/>
            </a:solidFill>
            <a:prstDash val="solid"/>
            <a:tailEnd type="triangle"/>
          </a:ln>
        </p:spPr>
      </p:sp>
      <p:sp>
        <p:nvSpPr>
          <p:cNvPr id="18" name="Shape 16"/>
          <p:cNvSpPr/>
          <p:nvPr/>
        </p:nvSpPr>
        <p:spPr>
          <a:xfrm>
            <a:off x="10771632" y="2011680"/>
            <a:ext cx="868680" cy="868680"/>
          </a:xfrm>
          <a:prstGeom prst="ellipse">
            <a:avLst/>
          </a:prstGeom>
          <a:solidFill>
            <a:srgbClr val="123A5C"/>
          </a:solidFill>
          <a:ln w="38100">
            <a:solidFill>
              <a:srgbClr val="2DA3FF"/>
            </a:solidFill>
            <a:prstDash val="solid"/>
          </a:ln>
        </p:spPr>
      </p:sp>
      <p:sp>
        <p:nvSpPr>
          <p:cNvPr id="19" name="Text 17"/>
          <p:cNvSpPr/>
          <p:nvPr/>
        </p:nvSpPr>
        <p:spPr>
          <a:xfrm>
            <a:off x="10543032" y="2011680"/>
            <a:ext cx="1325880" cy="868680"/>
          </a:xfrm>
          <a:prstGeom prst="rect">
            <a:avLst/>
          </a:prstGeom>
          <a:noFill/>
          <a:ln/>
        </p:spPr>
        <p:txBody>
          <a:bodyPr wrap="square" rtlCol="0" anchor="ctr"/>
          <a:lstStyle/>
          <a:p>
            <a:pPr algn="ctr" indent="0" marL="0">
              <a:buNone/>
            </a:pPr>
            <a:r>
              <a:rPr lang="en-US" sz="1200" b="1" dirty="0">
                <a:solidFill>
                  <a:srgbClr val="EEF3F9"/>
                </a:solidFill>
                <a:latin typeface="Segoe UI" pitchFamily="34" charset="0"/>
                <a:ea typeface="Segoe UI" pitchFamily="34" charset="-122"/>
                <a:cs typeface="Segoe UI" pitchFamily="34" charset="-120"/>
              </a:rPr>
              <a:t>Kitchen</a:t>
            </a:r>
            <a:endParaRPr lang="en-US" sz="1200" dirty="0"/>
          </a:p>
        </p:txBody>
      </p:sp>
      <p:sp>
        <p:nvSpPr>
          <p:cNvPr id="20" name="Text 18"/>
          <p:cNvSpPr/>
          <p:nvPr/>
        </p:nvSpPr>
        <p:spPr>
          <a:xfrm>
            <a:off x="10543032" y="2898648"/>
            <a:ext cx="1325880" cy="274320"/>
          </a:xfrm>
          <a:prstGeom prst="rect">
            <a:avLst/>
          </a:prstGeom>
          <a:noFill/>
          <a:ln/>
        </p:spPr>
        <p:txBody>
          <a:bodyPr wrap="square" rtlCol="0" anchor="ctr"/>
          <a:lstStyle/>
          <a:p>
            <a:pPr algn="ctr" indent="0" marL="0">
              <a:buNone/>
            </a:pPr>
            <a:r>
              <a:rPr lang="en-US" sz="1100" dirty="0">
                <a:solidFill>
                  <a:srgbClr val="9FB2C6"/>
                </a:solidFill>
                <a:latin typeface="Segoe UI" pitchFamily="34" charset="0"/>
                <a:ea typeface="Segoe UI" pitchFamily="34" charset="-122"/>
                <a:cs typeface="Segoe UI" pitchFamily="34" charset="-120"/>
              </a:rPr>
              <a:t>target ✓</a:t>
            </a:r>
            <a:endParaRPr lang="en-US" sz="1100" dirty="0"/>
          </a:p>
        </p:txBody>
      </p:sp>
      <p:sp>
        <p:nvSpPr>
          <p:cNvPr id="21" name="Text 19"/>
          <p:cNvSpPr/>
          <p:nvPr/>
        </p:nvSpPr>
        <p:spPr>
          <a:xfrm>
            <a:off x="548640" y="3291840"/>
            <a:ext cx="11091672" cy="365760"/>
          </a:xfrm>
          <a:prstGeom prst="rect">
            <a:avLst/>
          </a:prstGeom>
          <a:noFill/>
          <a:ln/>
        </p:spPr>
        <p:txBody>
          <a:bodyPr wrap="square" rtlCol="0" anchor="ctr"/>
          <a:lstStyle/>
          <a:p>
            <a:pPr algn="ctr" indent="0" marL="0">
              <a:buNone/>
            </a:pPr>
            <a:r>
              <a:rPr lang="en-US" sz="1300" i="1" dirty="0">
                <a:solidFill>
                  <a:srgbClr val="E8943A"/>
                </a:solidFill>
                <a:latin typeface="Segoe UI" pitchFamily="34" charset="0"/>
                <a:ea typeface="Segoe UI" pitchFamily="34" charset="-122"/>
                <a:cs typeface="Segoe UI" pitchFamily="34" charset="-120"/>
              </a:rPr>
              <a:t>turn the shortest way → centre the doorway → "click" to enter the next panorama</a:t>
            </a:r>
            <a:endParaRPr lang="en-US" sz="1300" dirty="0"/>
          </a:p>
        </p:txBody>
      </p:sp>
      <p:sp>
        <p:nvSpPr>
          <p:cNvPr id="22" name="Text 20"/>
          <p:cNvSpPr/>
          <p:nvPr/>
        </p:nvSpPr>
        <p:spPr>
          <a:xfrm>
            <a:off x="731520" y="4297680"/>
            <a:ext cx="10881360" cy="4206240"/>
          </a:xfrm>
          <a:prstGeom prst="rect">
            <a:avLst/>
          </a:prstGeom>
          <a:noFill/>
          <a:ln/>
        </p:spPr>
        <p:txBody>
          <a:bodyPr wrap="square" rtlCol="0" anchor="t"/>
          <a:lstStyle/>
          <a:p>
            <a:pPr marL="203200" indent="-203200">
              <a:lnSpc>
                <a:spcPct val="104000"/>
              </a:lnSpc>
              <a:spcAft>
                <a:spcPts val="800"/>
              </a:spcAft>
              <a:buSzPct val="100000"/>
              <a:buChar char="•"/>
            </a:pPr>
            <a:r>
              <a:rPr lang="en-US" sz="1450" dirty="0">
                <a:solidFill>
                  <a:srgbClr val="C7D2DE"/>
                </a:solidFill>
                <a:latin typeface="Segoe UI" pitchFamily="34" charset="0"/>
                <a:ea typeface="Segoe UI" pitchFamily="34" charset="-122"/>
                <a:cs typeface="Segoe UI" pitchFamily="34" charset="-120"/>
              </a:rPr>
              <a:t>Builds a graph of which doorway connects to which scene.</a:t>
            </a:r>
            <a:endParaRPr lang="en-US" sz="1450" dirty="0"/>
          </a:p>
          <a:p>
            <a:pPr marL="203200" indent="-203200">
              <a:lnSpc>
                <a:spcPct val="104000"/>
              </a:lnSpc>
              <a:spcAft>
                <a:spcPts val="800"/>
              </a:spcAft>
              <a:buSzPct val="100000"/>
              <a:buChar char="•"/>
            </a:pPr>
            <a:r>
              <a:rPr lang="en-US" sz="1450" dirty="0">
                <a:solidFill>
                  <a:srgbClr val="C7D2DE"/>
                </a:solidFill>
                <a:latin typeface="Segoe UI" pitchFamily="34" charset="0"/>
                <a:ea typeface="Segoe UI" pitchFamily="34" charset="-122"/>
                <a:cs typeface="Segoe UI" pitchFamily="34" charset="-120"/>
              </a:rPr>
              <a:t>Finds the shortest route from where you are to the target.</a:t>
            </a:r>
            <a:endParaRPr lang="en-US" sz="1450" dirty="0"/>
          </a:p>
          <a:p>
            <a:pPr marL="203200" indent="-203200">
              <a:lnSpc>
                <a:spcPct val="104000"/>
              </a:lnSpc>
              <a:spcAft>
                <a:spcPts val="800"/>
              </a:spcAft>
              <a:buSzPct val="100000"/>
              <a:buChar char="•"/>
            </a:pPr>
            <a:r>
              <a:rPr lang="en-US" sz="1450" dirty="0">
                <a:solidFill>
                  <a:srgbClr val="C7D2DE"/>
                </a:solidFill>
                <a:latin typeface="Segoe UI" pitchFamily="34" charset="0"/>
                <a:ea typeface="Segoe UI" pitchFamily="34" charset="-122"/>
                <a:cs typeface="Segoe UI" pitchFamily="34" charset="-120"/>
              </a:rPr>
              <a:t>For each hop, rotates the camera the shorter way (left or right) until the doorway is centred, then clicks it.</a:t>
            </a:r>
            <a:endParaRPr lang="en-US" sz="1450" dirty="0"/>
          </a:p>
          <a:p>
            <a:pPr marL="203200" indent="-203200">
              <a:lnSpc>
                <a:spcPct val="104000"/>
              </a:lnSpc>
              <a:spcAft>
                <a:spcPts val="800"/>
              </a:spcAft>
              <a:buSzPct val="100000"/>
              <a:buChar char="•"/>
            </a:pPr>
            <a:r>
              <a:rPr lang="en-US" sz="1450" dirty="0">
                <a:solidFill>
                  <a:srgbClr val="C7D2DE"/>
                </a:solidFill>
                <a:latin typeface="Segoe UI" pitchFamily="34" charset="0"/>
                <a:ea typeface="Segoe UI" pitchFamily="34" charset="-122"/>
                <a:cs typeface="Segoe UI" pitchFamily="34" charset="-120"/>
              </a:rPr>
              <a:t>Restores your tour's original camera settings when the walk ends.</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STEP 3 · EXPORT</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Get your search-enabled tour</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12</a:t>
            </a:r>
            <a:endParaRPr lang="en-US" sz="900" dirty="0"/>
          </a:p>
        </p:txBody>
      </p:sp>
      <p:sp>
        <p:nvSpPr>
          <p:cNvPr id="8" name="Shape 6"/>
          <p:cNvSpPr/>
          <p:nvPr/>
        </p:nvSpPr>
        <p:spPr>
          <a:xfrm>
            <a:off x="548640" y="1828800"/>
            <a:ext cx="5486400" cy="4023360"/>
          </a:xfrm>
          <a:prstGeom prst="roundRect">
            <a:avLst>
              <a:gd name="adj" fmla="val 2045"/>
            </a:avLst>
          </a:prstGeom>
          <a:solidFill>
            <a:srgbClr val="161D27"/>
          </a:solidFill>
          <a:ln w="12700">
            <a:solidFill>
              <a:srgbClr val="243042"/>
            </a:solidFill>
            <a:prstDash val="solid"/>
          </a:ln>
        </p:spPr>
      </p:sp>
      <p:sp>
        <p:nvSpPr>
          <p:cNvPr id="9" name="Text 7"/>
          <p:cNvSpPr/>
          <p:nvPr/>
        </p:nvSpPr>
        <p:spPr>
          <a:xfrm>
            <a:off x="777240" y="2011680"/>
            <a:ext cx="5029200" cy="457200"/>
          </a:xfrm>
          <a:prstGeom prst="rect">
            <a:avLst/>
          </a:prstGeom>
          <a:noFill/>
          <a:ln/>
        </p:spPr>
        <p:txBody>
          <a:bodyPr wrap="square" rtlCol="0" anchor="ctr"/>
          <a:lstStyle/>
          <a:p>
            <a:pPr indent="0" marL="0">
              <a:buNone/>
            </a:pPr>
            <a:r>
              <a:rPr lang="en-US" sz="1800" b="1" dirty="0">
                <a:solidFill>
                  <a:srgbClr val="2DA3FF"/>
                </a:solidFill>
                <a:latin typeface="Segoe UI" pitchFamily="34" charset="0"/>
                <a:ea typeface="Segoe UI" pitchFamily="34" charset="-122"/>
                <a:cs typeface="Segoe UI" pitchFamily="34" charset="-120"/>
              </a:rPr>
              <a:t>Option A — One-click .zip</a:t>
            </a:r>
            <a:endParaRPr lang="en-US" sz="1800" dirty="0"/>
          </a:p>
        </p:txBody>
      </p:sp>
      <p:sp>
        <p:nvSpPr>
          <p:cNvPr id="10" name="Shape 8"/>
          <p:cNvSpPr/>
          <p:nvPr/>
        </p:nvSpPr>
        <p:spPr>
          <a:xfrm>
            <a:off x="777240" y="2560320"/>
            <a:ext cx="4206240" cy="548640"/>
          </a:xfrm>
          <a:prstGeom prst="roundRect">
            <a:avLst>
              <a:gd name="adj" fmla="val 16667"/>
            </a:avLst>
          </a:prstGeom>
          <a:solidFill>
            <a:srgbClr val="2DA3FF"/>
          </a:solidFill>
          <a:ln/>
        </p:spPr>
      </p:sp>
      <p:sp>
        <p:nvSpPr>
          <p:cNvPr id="11" name="Text 9"/>
          <p:cNvSpPr/>
          <p:nvPr/>
        </p:nvSpPr>
        <p:spPr>
          <a:xfrm>
            <a:off x="777240" y="2560320"/>
            <a:ext cx="4206240" cy="548640"/>
          </a:xfrm>
          <a:prstGeom prst="rect">
            <a:avLst/>
          </a:prstGeom>
          <a:noFill/>
          <a:ln/>
        </p:spPr>
        <p:txBody>
          <a:bodyPr wrap="square" rtlCol="0" anchor="ctr"/>
          <a:lstStyle/>
          <a:p>
            <a:pPr algn="ctr" indent="0" marL="0">
              <a:buNone/>
            </a:pPr>
            <a:r>
              <a:rPr lang="en-US" sz="1300" b="1" dirty="0">
                <a:solidFill>
                  <a:srgbClr val="06121F"/>
                </a:solidFill>
                <a:latin typeface="Segoe UI" pitchFamily="34" charset="0"/>
                <a:ea typeface="Segoe UI" pitchFamily="34" charset="-122"/>
                <a:cs typeface="Segoe UI" pitchFamily="34" charset="-120"/>
              </a:rPr>
              <a:t>↓ Export published tour (.zip)</a:t>
            </a:r>
            <a:endParaRPr lang="en-US" sz="1300" dirty="0"/>
          </a:p>
        </p:txBody>
      </p:sp>
      <p:sp>
        <p:nvSpPr>
          <p:cNvPr id="12" name="Text 10"/>
          <p:cNvSpPr/>
          <p:nvPr/>
        </p:nvSpPr>
        <p:spPr>
          <a:xfrm>
            <a:off x="868680" y="3383280"/>
            <a:ext cx="4937760" cy="4206240"/>
          </a:xfrm>
          <a:prstGeom prst="rect">
            <a:avLst/>
          </a:prstGeom>
          <a:noFill/>
          <a:ln/>
        </p:spPr>
        <p:txBody>
          <a:bodyPr wrap="square" rtlCol="0" anchor="t"/>
          <a:lstStyle/>
          <a:p>
            <a:pPr marL="203200" indent="-203200">
              <a:lnSpc>
                <a:spcPct val="104000"/>
              </a:lnSpc>
              <a:spcAft>
                <a:spcPts val="900"/>
              </a:spcAft>
              <a:buSzPct val="100000"/>
              <a:buChar char="•"/>
            </a:pPr>
            <a:r>
              <a:rPr lang="en-US" sz="1400" b="1" dirty="0">
                <a:solidFill>
                  <a:srgbClr val="36D17A"/>
                </a:solidFill>
                <a:latin typeface="Segoe UI" pitchFamily="34" charset="0"/>
                <a:ea typeface="Segoe UI" pitchFamily="34" charset="-122"/>
                <a:cs typeface="Segoe UI" pitchFamily="34" charset="-120"/>
              </a:rPr>
              <a:t>Easiest — unzip, upload, done. No editing.</a:t>
            </a:r>
            <a:endParaRPr lang="en-US" sz="1400" dirty="0"/>
          </a:p>
          <a:p>
            <a:pPr marL="203200" indent="-203200">
              <a:lnSpc>
                <a:spcPct val="104000"/>
              </a:lnSpc>
              <a:spcAft>
                <a:spcPts val="900"/>
              </a:spcAft>
              <a:buSzPct val="100000"/>
              <a:buChar char="•"/>
            </a:pPr>
            <a:r>
              <a:rPr lang="en-US" sz="1400" dirty="0">
                <a:solidFill>
                  <a:srgbClr val="C7D2DE"/>
                </a:solidFill>
                <a:latin typeface="Segoe UI" pitchFamily="34" charset="0"/>
                <a:ea typeface="Segoe UI" pitchFamily="34" charset="-122"/>
                <a:cs typeface="Segoe UI" pitchFamily="34" charset="-120"/>
              </a:rPr>
              <a:t>Your original tour folder is never touched.</a:t>
            </a:r>
            <a:endParaRPr lang="en-US" sz="1400" dirty="0"/>
          </a:p>
          <a:p>
            <a:pPr marL="203200" indent="-203200">
              <a:lnSpc>
                <a:spcPct val="104000"/>
              </a:lnSpc>
              <a:spcAft>
                <a:spcPts val="900"/>
              </a:spcAft>
              <a:buSzPct val="100000"/>
              <a:buChar char="•"/>
            </a:pPr>
            <a:r>
              <a:rPr lang="en-US" sz="1400" dirty="0">
                <a:solidFill>
                  <a:srgbClr val="C7D2DE"/>
                </a:solidFill>
                <a:latin typeface="Segoe UI" pitchFamily="34" charset="0"/>
                <a:ea typeface="Segoe UI" pitchFamily="34" charset="-122"/>
                <a:cs typeface="Segoe UI" pitchFamily="34" charset="-120"/>
              </a:rPr>
              <a:t>Best for normal-sized tours (up to ~1 GB).</a:t>
            </a:r>
            <a:endParaRPr lang="en-US" sz="1400" dirty="0"/>
          </a:p>
        </p:txBody>
      </p:sp>
      <p:sp>
        <p:nvSpPr>
          <p:cNvPr id="13" name="Shape 11"/>
          <p:cNvSpPr/>
          <p:nvPr/>
        </p:nvSpPr>
        <p:spPr>
          <a:xfrm>
            <a:off x="6126480" y="1828800"/>
            <a:ext cx="5486400" cy="4023360"/>
          </a:xfrm>
          <a:prstGeom prst="roundRect">
            <a:avLst>
              <a:gd name="adj" fmla="val 2045"/>
            </a:avLst>
          </a:prstGeom>
          <a:solidFill>
            <a:srgbClr val="11171F"/>
          </a:solidFill>
          <a:ln w="12700">
            <a:solidFill>
              <a:srgbClr val="243042"/>
            </a:solidFill>
            <a:prstDash val="solid"/>
          </a:ln>
        </p:spPr>
      </p:sp>
      <p:sp>
        <p:nvSpPr>
          <p:cNvPr id="14" name="Text 12"/>
          <p:cNvSpPr/>
          <p:nvPr/>
        </p:nvSpPr>
        <p:spPr>
          <a:xfrm>
            <a:off x="6355080" y="2011680"/>
            <a:ext cx="5029200" cy="457200"/>
          </a:xfrm>
          <a:prstGeom prst="rect">
            <a:avLst/>
          </a:prstGeom>
          <a:noFill/>
          <a:ln/>
        </p:spPr>
        <p:txBody>
          <a:bodyPr wrap="square" rtlCol="0" anchor="ctr"/>
          <a:lstStyle/>
          <a:p>
            <a:pPr indent="0" marL="0">
              <a:buNone/>
            </a:pPr>
            <a:r>
              <a:rPr lang="en-US" sz="1800" b="1" dirty="0">
                <a:solidFill>
                  <a:srgbClr val="E8943A"/>
                </a:solidFill>
                <a:latin typeface="Segoe UI" pitchFamily="34" charset="0"/>
                <a:ea typeface="Segoe UI" pitchFamily="34" charset="-122"/>
                <a:cs typeface="Segoe UI" pitchFamily="34" charset="-120"/>
              </a:rPr>
              <a:t>Option B — Just the two files</a:t>
            </a:r>
            <a:endParaRPr lang="en-US" sz="1800" dirty="0"/>
          </a:p>
        </p:txBody>
      </p:sp>
      <p:sp>
        <p:nvSpPr>
          <p:cNvPr id="15" name="Text 13"/>
          <p:cNvSpPr/>
          <p:nvPr/>
        </p:nvSpPr>
        <p:spPr>
          <a:xfrm>
            <a:off x="6446520" y="2606040"/>
            <a:ext cx="4937760" cy="4206240"/>
          </a:xfrm>
          <a:prstGeom prst="rect">
            <a:avLst/>
          </a:prstGeom>
          <a:noFill/>
          <a:ln/>
        </p:spPr>
        <p:txBody>
          <a:bodyPr wrap="square" rtlCol="0" anchor="t"/>
          <a:lstStyle/>
          <a:p>
            <a:pPr marL="203200" indent="-203200">
              <a:lnSpc>
                <a:spcPct val="104000"/>
              </a:lnSpc>
              <a:spcAft>
                <a:spcPts val="900"/>
              </a:spcAft>
              <a:buSzPct val="100000"/>
              <a:buChar char="•"/>
            </a:pPr>
            <a:r>
              <a:rPr lang="en-US" sz="1400" b="1" dirty="0">
                <a:solidFill>
                  <a:srgbClr val="EEF3F9"/>
                </a:solidFill>
                <a:latin typeface="Segoe UI" pitchFamily="34" charset="0"/>
                <a:ea typeface="Segoe UI" pitchFamily="34" charset="-122"/>
                <a:cs typeface="Segoe UI" pitchFamily="34" charset="-120"/>
              </a:rPr>
              <a:t>Get vtsearch.js + a patched index.htm.</a:t>
            </a:r>
            <a:endParaRPr lang="en-US" sz="1400" dirty="0"/>
          </a:p>
          <a:p>
            <a:pPr marL="203200" indent="-203200">
              <a:lnSpc>
                <a:spcPct val="104000"/>
              </a:lnSpc>
              <a:spcAft>
                <a:spcPts val="900"/>
              </a:spcAft>
              <a:buSzPct val="100000"/>
              <a:buChar char="•"/>
            </a:pPr>
            <a:r>
              <a:rPr lang="en-US" sz="1400" dirty="0">
                <a:solidFill>
                  <a:srgbClr val="C7D2DE"/>
                </a:solidFill>
                <a:latin typeface="Segoe UI" pitchFamily="34" charset="0"/>
                <a:ea typeface="Segoe UI" pitchFamily="34" charset="-122"/>
                <a:cs typeface="Segoe UI" pitchFamily="34" charset="-120"/>
              </a:rPr>
              <a:t>Drop them into your existing tour folder yourself.</a:t>
            </a:r>
            <a:endParaRPr lang="en-US" sz="1400" dirty="0"/>
          </a:p>
          <a:p>
            <a:pPr marL="203200" indent="-203200">
              <a:lnSpc>
                <a:spcPct val="104000"/>
              </a:lnSpc>
              <a:spcAft>
                <a:spcPts val="900"/>
              </a:spcAft>
              <a:buSzPct val="100000"/>
              <a:buChar char="•"/>
            </a:pPr>
            <a:r>
              <a:rPr lang="en-US" sz="1400" dirty="0">
                <a:solidFill>
                  <a:srgbClr val="C7D2DE"/>
                </a:solidFill>
                <a:latin typeface="Segoe UI" pitchFamily="34" charset="0"/>
                <a:ea typeface="Segoe UI" pitchFamily="34" charset="-122"/>
                <a:cs typeface="Segoe UI" pitchFamily="34" charset="-120"/>
              </a:rPr>
              <a:t>Best for very large tours (several GB) — nothing is rebuilt.</a:t>
            </a:r>
            <a:endParaRPr lang="en-US" sz="1400" dirty="0"/>
          </a:p>
          <a:p>
            <a:pPr marL="203200" indent="-203200">
              <a:lnSpc>
                <a:spcPct val="104000"/>
              </a:lnSpc>
              <a:spcAft>
                <a:spcPts val="900"/>
              </a:spcAft>
              <a:buSzPct val="100000"/>
              <a:buChar char="•"/>
            </a:pPr>
            <a:r>
              <a:rPr lang="en-US" sz="1400" dirty="0">
                <a:solidFill>
                  <a:srgbClr val="C7D2DE"/>
                </a:solidFill>
                <a:latin typeface="Segoe UI" pitchFamily="34" charset="0"/>
                <a:ea typeface="Segoe UI" pitchFamily="34" charset="-122"/>
                <a:cs typeface="Segoe UI" pitchFamily="34" charset="-120"/>
              </a:rPr>
              <a:t>Re-running later just makes a newer vtsearch.js — safe to overwrite.</a:t>
            </a:r>
            <a:endParaRPr lang="en-US" sz="1400" dirty="0"/>
          </a:p>
        </p:txBody>
      </p:sp>
      <p:sp>
        <p:nvSpPr>
          <p:cNvPr id="16" name="Text 14"/>
          <p:cNvSpPr/>
          <p:nvPr/>
        </p:nvSpPr>
        <p:spPr>
          <a:xfrm>
            <a:off x="548640" y="6035040"/>
            <a:ext cx="11064240" cy="365760"/>
          </a:xfrm>
          <a:prstGeom prst="rect">
            <a:avLst/>
          </a:prstGeom>
          <a:noFill/>
          <a:ln/>
        </p:spPr>
        <p:txBody>
          <a:bodyPr wrap="square" rtlCol="0" anchor="ctr"/>
          <a:lstStyle/>
          <a:p>
            <a:pPr algn="ctr" indent="0" marL="0">
              <a:buNone/>
            </a:pPr>
            <a:r>
              <a:rPr lang="en-US" sz="1300" i="1" dirty="0">
                <a:solidFill>
                  <a:srgbClr val="9FB2C6"/>
                </a:solidFill>
                <a:latin typeface="Segoe UI" pitchFamily="34" charset="0"/>
                <a:ea typeface="Segoe UI" pitchFamily="34" charset="-122"/>
                <a:cs typeface="Segoe UI" pitchFamily="34" charset="-120"/>
              </a:rPr>
              <a:t>Either way: nothing is uploaded — it all runs in your browser.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UNDER THE HOOD</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Two small pieces — and your privacy</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13</a:t>
            </a:r>
            <a:endParaRPr lang="en-US" sz="900" dirty="0"/>
          </a:p>
        </p:txBody>
      </p:sp>
      <p:sp>
        <p:nvSpPr>
          <p:cNvPr id="8" name="Shape 6"/>
          <p:cNvSpPr/>
          <p:nvPr/>
        </p:nvSpPr>
        <p:spPr>
          <a:xfrm>
            <a:off x="548640" y="1828800"/>
            <a:ext cx="5486400" cy="2743200"/>
          </a:xfrm>
          <a:prstGeom prst="roundRect">
            <a:avLst>
              <a:gd name="adj" fmla="val 3000"/>
            </a:avLst>
          </a:prstGeom>
          <a:solidFill>
            <a:srgbClr val="161D27"/>
          </a:solidFill>
          <a:ln w="12700">
            <a:solidFill>
              <a:srgbClr val="243042"/>
            </a:solidFill>
            <a:prstDash val="solid"/>
          </a:ln>
        </p:spPr>
      </p:sp>
      <p:sp>
        <p:nvSpPr>
          <p:cNvPr id="9" name="Text 7"/>
          <p:cNvSpPr/>
          <p:nvPr/>
        </p:nvSpPr>
        <p:spPr>
          <a:xfrm>
            <a:off x="777240" y="2011680"/>
            <a:ext cx="5029200" cy="457200"/>
          </a:xfrm>
          <a:prstGeom prst="rect">
            <a:avLst/>
          </a:prstGeom>
          <a:noFill/>
          <a:ln/>
        </p:spPr>
        <p:txBody>
          <a:bodyPr wrap="square" rtlCol="0" anchor="ctr"/>
          <a:lstStyle/>
          <a:p>
            <a:pPr indent="0" marL="0">
              <a:buNone/>
            </a:pPr>
            <a:r>
              <a:rPr lang="en-US" sz="1800" b="1" dirty="0">
                <a:solidFill>
                  <a:srgbClr val="2DA3FF"/>
                </a:solidFill>
                <a:latin typeface="Segoe UI" pitchFamily="34" charset="0"/>
                <a:ea typeface="Segoe UI" pitchFamily="34" charset="-122"/>
                <a:cs typeface="Segoe UI" pitchFamily="34" charset="-120"/>
              </a:rPr>
              <a:t>The parser</a:t>
            </a:r>
            <a:endParaRPr lang="en-US" sz="1800" dirty="0"/>
          </a:p>
        </p:txBody>
      </p:sp>
      <p:sp>
        <p:nvSpPr>
          <p:cNvPr id="10" name="Text 8"/>
          <p:cNvSpPr/>
          <p:nvPr/>
        </p:nvSpPr>
        <p:spPr>
          <a:xfrm>
            <a:off x="868680" y="2560320"/>
            <a:ext cx="4937760" cy="4206240"/>
          </a:xfrm>
          <a:prstGeom prst="rect">
            <a:avLst/>
          </a:prstGeom>
          <a:noFill/>
          <a:ln/>
        </p:spPr>
        <p:txBody>
          <a:bodyPr wrap="square" rtlCol="0" anchor="t"/>
          <a:lstStyle/>
          <a:p>
            <a:pPr marL="203200" indent="-203200">
              <a:lnSpc>
                <a:spcPct val="104000"/>
              </a:lnSpc>
              <a:spcAft>
                <a:spcPts val="900"/>
              </a:spcAft>
              <a:buSzPct val="100000"/>
              <a:buChar char="•"/>
            </a:pPr>
            <a:r>
              <a:rPr lang="en-US" sz="1400" dirty="0">
                <a:solidFill>
                  <a:srgbClr val="C7D2DE"/>
                </a:solidFill>
                <a:latin typeface="Segoe UI" pitchFamily="34" charset="0"/>
                <a:ea typeface="Segoe UI" pitchFamily="34" charset="-122"/>
                <a:cs typeface="Segoe UI" pitchFamily="34" charset="-120"/>
              </a:rPr>
              <a:t>Reads your tour data and locale files.</a:t>
            </a:r>
            <a:endParaRPr lang="en-US" sz="1400" dirty="0"/>
          </a:p>
          <a:p>
            <a:pPr marL="203200" indent="-203200">
              <a:lnSpc>
                <a:spcPct val="104000"/>
              </a:lnSpc>
              <a:spcAft>
                <a:spcPts val="900"/>
              </a:spcAft>
              <a:buSzPct val="100000"/>
              <a:buChar char="•"/>
            </a:pPr>
            <a:r>
              <a:rPr lang="en-US" sz="1400" dirty="0">
                <a:solidFill>
                  <a:srgbClr val="C7D2DE"/>
                </a:solidFill>
                <a:latin typeface="Segoe UI" pitchFamily="34" charset="0"/>
                <a:ea typeface="Segoe UI" pitchFamily="34" charset="-122"/>
                <a:cs typeface="Segoe UI" pitchFamily="34" charset="-120"/>
              </a:rPr>
              <a:t>Extracts scenes, hotspots, thumbnails…</a:t>
            </a:r>
            <a:endParaRPr lang="en-US" sz="1400" dirty="0"/>
          </a:p>
          <a:p>
            <a:pPr marL="203200" indent="-203200">
              <a:lnSpc>
                <a:spcPct val="104000"/>
              </a:lnSpc>
              <a:spcAft>
                <a:spcPts val="900"/>
              </a:spcAft>
              <a:buSzPct val="100000"/>
              <a:buChar char="•"/>
            </a:pPr>
            <a:r>
              <a:rPr lang="en-US" sz="1400" dirty="0">
                <a:solidFill>
                  <a:srgbClr val="C7D2DE"/>
                </a:solidFill>
                <a:latin typeface="Segoe UI" pitchFamily="34" charset="0"/>
                <a:ea typeface="Segoe UI" pitchFamily="34" charset="-122"/>
                <a:cs typeface="Segoe UI" pitchFamily="34" charset="-120"/>
              </a:rPr>
              <a:t>…and the scene-connection graph for guided walks.</a:t>
            </a:r>
            <a:endParaRPr lang="en-US" sz="1400" dirty="0"/>
          </a:p>
        </p:txBody>
      </p:sp>
      <p:sp>
        <p:nvSpPr>
          <p:cNvPr id="11" name="Shape 9"/>
          <p:cNvSpPr/>
          <p:nvPr/>
        </p:nvSpPr>
        <p:spPr>
          <a:xfrm>
            <a:off x="6126480" y="1828800"/>
            <a:ext cx="5486400" cy="2743200"/>
          </a:xfrm>
          <a:prstGeom prst="roundRect">
            <a:avLst>
              <a:gd name="adj" fmla="val 3000"/>
            </a:avLst>
          </a:prstGeom>
          <a:solidFill>
            <a:srgbClr val="161D27"/>
          </a:solidFill>
          <a:ln w="12700">
            <a:solidFill>
              <a:srgbClr val="243042"/>
            </a:solidFill>
            <a:prstDash val="solid"/>
          </a:ln>
        </p:spPr>
      </p:sp>
      <p:sp>
        <p:nvSpPr>
          <p:cNvPr id="12" name="Text 10"/>
          <p:cNvSpPr/>
          <p:nvPr/>
        </p:nvSpPr>
        <p:spPr>
          <a:xfrm>
            <a:off x="6355080" y="2011680"/>
            <a:ext cx="5029200" cy="457200"/>
          </a:xfrm>
          <a:prstGeom prst="rect">
            <a:avLst/>
          </a:prstGeom>
          <a:noFill/>
          <a:ln/>
        </p:spPr>
        <p:txBody>
          <a:bodyPr wrap="square" rtlCol="0" anchor="ctr"/>
          <a:lstStyle/>
          <a:p>
            <a:pPr indent="0" marL="0">
              <a:buNone/>
            </a:pPr>
            <a:r>
              <a:rPr lang="en-US" sz="1800" b="1" dirty="0">
                <a:solidFill>
                  <a:srgbClr val="E8943A"/>
                </a:solidFill>
                <a:latin typeface="Segoe UI" pitchFamily="34" charset="0"/>
                <a:ea typeface="Segoe UI" pitchFamily="34" charset="-122"/>
                <a:cs typeface="Segoe UI" pitchFamily="34" charset="-120"/>
              </a:rPr>
              <a:t>The widget</a:t>
            </a:r>
            <a:endParaRPr lang="en-US" sz="1800" dirty="0"/>
          </a:p>
        </p:txBody>
      </p:sp>
      <p:sp>
        <p:nvSpPr>
          <p:cNvPr id="13" name="Text 11"/>
          <p:cNvSpPr/>
          <p:nvPr/>
        </p:nvSpPr>
        <p:spPr>
          <a:xfrm>
            <a:off x="6446520" y="2560320"/>
            <a:ext cx="4937760" cy="4206240"/>
          </a:xfrm>
          <a:prstGeom prst="rect">
            <a:avLst/>
          </a:prstGeom>
          <a:noFill/>
          <a:ln/>
        </p:spPr>
        <p:txBody>
          <a:bodyPr wrap="square" rtlCol="0" anchor="t"/>
          <a:lstStyle/>
          <a:p>
            <a:pPr marL="203200" indent="-203200">
              <a:lnSpc>
                <a:spcPct val="104000"/>
              </a:lnSpc>
              <a:spcAft>
                <a:spcPts val="900"/>
              </a:spcAft>
              <a:buSzPct val="100000"/>
              <a:buChar char="•"/>
            </a:pPr>
            <a:r>
              <a:rPr lang="en-US" sz="1400" dirty="0">
                <a:solidFill>
                  <a:srgbClr val="C7D2DE"/>
                </a:solidFill>
                <a:latin typeface="Segoe UI" pitchFamily="34" charset="0"/>
                <a:ea typeface="Segoe UI" pitchFamily="34" charset="-122"/>
                <a:cs typeface="Segoe UI" pitchFamily="34" charset="-120"/>
              </a:rPr>
              <a:t>A tiny script injected into your tour.</a:t>
            </a:r>
            <a:endParaRPr lang="en-US" sz="1400" dirty="0"/>
          </a:p>
          <a:p>
            <a:pPr marL="203200" indent="-203200">
              <a:lnSpc>
                <a:spcPct val="104000"/>
              </a:lnSpc>
              <a:spcAft>
                <a:spcPts val="900"/>
              </a:spcAft>
              <a:buSzPct val="100000"/>
              <a:buChar char="•"/>
            </a:pPr>
            <a:r>
              <a:rPr lang="en-US" sz="1400" dirty="0">
                <a:solidFill>
                  <a:srgbClr val="C7D2DE"/>
                </a:solidFill>
                <a:latin typeface="Segoe UI" pitchFamily="34" charset="0"/>
                <a:ea typeface="Segoe UI" pitchFamily="34" charset="-122"/>
                <a:cs typeface="Segoe UI" pitchFamily="34" charset="-120"/>
              </a:rPr>
              <a:t>Draws the search box and runs the fuzzy match.</a:t>
            </a:r>
            <a:endParaRPr lang="en-US" sz="1400" dirty="0"/>
          </a:p>
          <a:p>
            <a:pPr marL="203200" indent="-203200">
              <a:lnSpc>
                <a:spcPct val="104000"/>
              </a:lnSpc>
              <a:spcAft>
                <a:spcPts val="900"/>
              </a:spcAft>
              <a:buSzPct val="100000"/>
              <a:buChar char="•"/>
            </a:pPr>
            <a:r>
              <a:rPr lang="en-US" sz="1400" dirty="0">
                <a:solidFill>
                  <a:srgbClr val="C7D2DE"/>
                </a:solidFill>
                <a:latin typeface="Segoe UI" pitchFamily="34" charset="0"/>
                <a:ea typeface="Segoe UI" pitchFamily="34" charset="-122"/>
                <a:cs typeface="Segoe UI" pitchFamily="34" charset="-120"/>
              </a:rPr>
              <a:t>Drives the tour's own player for navigation &amp; guiding.</a:t>
            </a:r>
            <a:endParaRPr lang="en-US" sz="1400" dirty="0"/>
          </a:p>
        </p:txBody>
      </p:sp>
      <p:sp>
        <p:nvSpPr>
          <p:cNvPr id="14" name="Shape 12"/>
          <p:cNvSpPr/>
          <p:nvPr/>
        </p:nvSpPr>
        <p:spPr>
          <a:xfrm>
            <a:off x="548640" y="4754880"/>
            <a:ext cx="11064240" cy="1280160"/>
          </a:xfrm>
          <a:prstGeom prst="roundRect">
            <a:avLst>
              <a:gd name="adj" fmla="val 6429"/>
            </a:avLst>
          </a:prstGeom>
          <a:solidFill>
            <a:srgbClr val="11171F"/>
          </a:solidFill>
          <a:ln w="12700">
            <a:solidFill>
              <a:srgbClr val="243042"/>
            </a:solidFill>
            <a:prstDash val="solid"/>
          </a:ln>
        </p:spPr>
      </p:sp>
      <p:sp>
        <p:nvSpPr>
          <p:cNvPr id="15" name="Text 13"/>
          <p:cNvSpPr/>
          <p:nvPr/>
        </p:nvSpPr>
        <p:spPr>
          <a:xfrm>
            <a:off x="868680" y="4937760"/>
            <a:ext cx="10424160" cy="914400"/>
          </a:xfrm>
          <a:prstGeom prst="rect">
            <a:avLst/>
          </a:prstGeom>
          <a:noFill/>
          <a:ln/>
        </p:spPr>
        <p:txBody>
          <a:bodyPr wrap="square" rtlCol="0" anchor="ctr"/>
          <a:lstStyle/>
          <a:p>
            <a:pPr indent="0" marL="0">
              <a:lnSpc>
                <a:spcPct val="105000"/>
              </a:lnSpc>
              <a:buNone/>
            </a:pPr>
            <a:r>
              <a:rPr lang="en-US" sz="1500" b="1" dirty="0">
                <a:solidFill>
                  <a:srgbClr val="36D17A"/>
                </a:solidFill>
                <a:latin typeface="Segoe UI" pitchFamily="34" charset="0"/>
                <a:ea typeface="Segoe UI" pitchFamily="34" charset="-122"/>
                <a:cs typeface="Segoe UI" pitchFamily="34" charset="-120"/>
              </a:rPr>
              <a:t>🔒  100% offline &amp; private.  </a:t>
            </a:r>
            <a:pPr indent="0" marL="0">
              <a:lnSpc>
                <a:spcPct val="105000"/>
              </a:lnSpc>
              <a:buNone/>
            </a:pPr>
            <a:r>
              <a:rPr lang="en-US" sz="1500" dirty="0">
                <a:solidFill>
                  <a:srgbClr val="C7D2DE"/>
                </a:solidFill>
                <a:latin typeface="Segoe UI" pitchFamily="34" charset="0"/>
                <a:ea typeface="Segoe UI" pitchFamily="34" charset="-122"/>
                <a:cs typeface="Segoe UI" pitchFamily="34" charset="-120"/>
              </a:rPr>
              <a:t>No AI or internet at search time. Your tour and your visitors' searches never leave the browser. The search works the same with no connection at all.</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2DA3FF"/>
          </a:solidFill>
          <a:ln/>
        </p:spPr>
      </p:sp>
      <p:sp>
        <p:nvSpPr>
          <p:cNvPr id="3" name="Text 1"/>
          <p:cNvSpPr/>
          <p:nvPr/>
        </p:nvSpPr>
        <p:spPr>
          <a:xfrm>
            <a:off x="548640" y="384048"/>
            <a:ext cx="10972800" cy="274320"/>
          </a:xfrm>
          <a:prstGeom prst="rect">
            <a:avLst/>
          </a:prstGeom>
          <a:noFill/>
          <a:ln/>
        </p:spPr>
        <p:txBody>
          <a:bodyPr wrap="square" rtlCol="0" anchor="ctr"/>
          <a:lstStyle/>
          <a:p>
            <a:pPr indent="0" marL="0">
              <a:buNone/>
            </a:pPr>
            <a:r>
              <a:rPr lang="en-US" sz="1200" b="1" spc="300" kern="0" dirty="0">
                <a:solidFill>
                  <a:srgbClr val="2DA3FF"/>
                </a:solidFill>
                <a:latin typeface="Segoe UI" pitchFamily="34" charset="0"/>
                <a:ea typeface="Segoe UI" pitchFamily="34" charset="-122"/>
                <a:cs typeface="Segoe UI" pitchFamily="34" charset="-120"/>
              </a:rPr>
              <a:t>GOOD TO KNOW</a:t>
            </a:r>
            <a:endParaRPr lang="en-US" sz="1200" dirty="0"/>
          </a:p>
        </p:txBody>
      </p:sp>
      <p:sp>
        <p:nvSpPr>
          <p:cNvPr id="4" name="Text 2"/>
          <p:cNvSpPr/>
          <p:nvPr/>
        </p:nvSpPr>
        <p:spPr>
          <a:xfrm>
            <a:off x="548640" y="640080"/>
            <a:ext cx="11064240" cy="868680"/>
          </a:xfrm>
          <a:prstGeom prst="rect">
            <a:avLst/>
          </a:prstGeom>
          <a:noFill/>
          <a:ln/>
        </p:spPr>
        <p:txBody>
          <a:bodyPr wrap="square" rtlCol="0" anchor="ctr"/>
          <a:lstStyle/>
          <a:p>
            <a:pPr indent="0" marL="0">
              <a:buNone/>
            </a:pPr>
            <a:r>
              <a:rPr lang="en-US" sz="2900" b="1" dirty="0">
                <a:solidFill>
                  <a:srgbClr val="EEF3F9"/>
                </a:solidFill>
                <a:latin typeface="Segoe UI" pitchFamily="34" charset="0"/>
                <a:ea typeface="Segoe UI" pitchFamily="34" charset="-122"/>
                <a:cs typeface="Segoe UI" pitchFamily="34" charset="-120"/>
              </a:rPr>
              <a:t>Compatibility &amp; limits</a:t>
            </a:r>
            <a:endParaRPr lang="en-US" sz="2900" dirty="0"/>
          </a:p>
        </p:txBody>
      </p:sp>
      <p:sp>
        <p:nvSpPr>
          <p:cNvPr id="5" name="Shape 3"/>
          <p:cNvSpPr/>
          <p:nvPr/>
        </p:nvSpPr>
        <p:spPr>
          <a:xfrm>
            <a:off x="576072" y="1481328"/>
            <a:ext cx="1554480" cy="0"/>
          </a:xfrm>
          <a:prstGeom prst="line">
            <a:avLst/>
          </a:prstGeom>
          <a:noFill/>
          <a:ln w="38100">
            <a:solidFill>
              <a:srgbClr val="2DA3FF"/>
            </a:solidFill>
            <a:prstDash val="solid"/>
          </a:ln>
        </p:spPr>
      </p:sp>
      <p:sp>
        <p:nvSpPr>
          <p:cNvPr id="6" name="Text 4"/>
          <p:cNvSpPr/>
          <p:nvPr/>
        </p:nvSpPr>
        <p:spPr>
          <a:xfrm>
            <a:off x="548640" y="6455664"/>
            <a:ext cx="5486400" cy="274320"/>
          </a:xfrm>
          <a:prstGeom prst="rect">
            <a:avLst/>
          </a:prstGeom>
          <a:noFill/>
          <a:ln/>
        </p:spPr>
        <p:txBody>
          <a:bodyPr wrap="square" rtlCol="0" anchor="ctr"/>
          <a:lstStyle/>
          <a:p>
            <a:pPr indent="0" marL="0">
              <a:buNone/>
            </a:pPr>
            <a:r>
              <a:rPr lang="en-US" sz="900" dirty="0">
                <a:solidFill>
                  <a:srgbClr val="9FB2C6"/>
                </a:solidFill>
                <a:latin typeface="Segoe UI" pitchFamily="34" charset="0"/>
                <a:ea typeface="Segoe UI" pitchFamily="34" charset="-122"/>
                <a:cs typeface="Segoe UI" pitchFamily="34" charset="-120"/>
              </a:rPr>
              <a:t>VT Search Builder</a:t>
            </a:r>
            <a:endParaRPr lang="en-US" sz="900" dirty="0"/>
          </a:p>
        </p:txBody>
      </p:sp>
      <p:sp>
        <p:nvSpPr>
          <p:cNvPr id="7" name="Text 5"/>
          <p:cNvSpPr/>
          <p:nvPr/>
        </p:nvSpPr>
        <p:spPr>
          <a:xfrm>
            <a:off x="11430000" y="6455664"/>
            <a:ext cx="457200" cy="274320"/>
          </a:xfrm>
          <a:prstGeom prst="rect">
            <a:avLst/>
          </a:prstGeom>
          <a:noFill/>
          <a:ln/>
        </p:spPr>
        <p:txBody>
          <a:bodyPr wrap="square" rtlCol="0" anchor="ctr"/>
          <a:lstStyle/>
          <a:p>
            <a:pPr algn="r" indent="0" marL="0">
              <a:buNone/>
            </a:pPr>
            <a:r>
              <a:rPr lang="en-US" sz="900" dirty="0">
                <a:solidFill>
                  <a:srgbClr val="9FB2C6"/>
                </a:solidFill>
                <a:latin typeface="Segoe UI" pitchFamily="34" charset="0"/>
                <a:ea typeface="Segoe UI" pitchFamily="34" charset="-122"/>
                <a:cs typeface="Segoe UI" pitchFamily="34" charset="-120"/>
              </a:rPr>
              <a:t>14</a:t>
            </a:r>
            <a:endParaRPr lang="en-US" sz="900" dirty="0"/>
          </a:p>
        </p:txBody>
      </p:sp>
      <p:sp>
        <p:nvSpPr>
          <p:cNvPr id="8" name="Text 6"/>
          <p:cNvSpPr/>
          <p:nvPr/>
        </p:nvSpPr>
        <p:spPr>
          <a:xfrm>
            <a:off x="822960" y="1920240"/>
            <a:ext cx="10789920" cy="4206240"/>
          </a:xfrm>
          <a:prstGeom prst="rect">
            <a:avLst/>
          </a:prstGeom>
          <a:noFill/>
          <a:ln/>
        </p:spPr>
        <p:txBody>
          <a:bodyPr wrap="square" rtlCol="0" anchor="t"/>
          <a:lstStyle/>
          <a:p>
            <a:pPr marL="203200" indent="-203200">
              <a:lnSpc>
                <a:spcPct val="104000"/>
              </a:lnSpc>
              <a:spcAft>
                <a:spcPts val="1400"/>
              </a:spcAft>
              <a:buSzPct val="100000"/>
              <a:buChar char="•"/>
            </a:pPr>
            <a:r>
              <a:rPr lang="en-US" sz="1600" b="1" dirty="0">
                <a:solidFill>
                  <a:srgbClr val="EEF3F9"/>
                </a:solidFill>
                <a:latin typeface="Segoe UI" pitchFamily="34" charset="0"/>
                <a:ea typeface="Segoe UI" pitchFamily="34" charset="-122"/>
                <a:cs typeface="Segoe UI" pitchFamily="34" charset="-120"/>
              </a:rPr>
              <a:t>Works on tours exported via 3DVista → “Export to website / HTML”.</a:t>
            </a:r>
            <a:endParaRPr lang="en-US" sz="1600" dirty="0"/>
          </a:p>
          <a:p>
            <a:pPr marL="203200" indent="-203200">
              <a:lnSpc>
                <a:spcPct val="104000"/>
              </a:lnSpc>
              <a:spcAft>
                <a:spcPts val="1400"/>
              </a:spcAft>
              <a:buSzPct val="100000"/>
              <a:buChar char="•"/>
            </a:pPr>
            <a:r>
              <a:rPr lang="en-US" sz="1600" dirty="0">
                <a:solidFill>
                  <a:srgbClr val="C7D2DE"/>
                </a:solidFill>
                <a:latin typeface="Segoe UI" pitchFamily="34" charset="0"/>
                <a:ea typeface="Segoe UI" pitchFamily="34" charset="-122"/>
                <a:cs typeface="Segoe UI" pitchFamily="34" charset="-120"/>
              </a:rPr>
              <a:t>Modern Chromium, Firefox, Safari and Edge.</a:t>
            </a:r>
            <a:endParaRPr lang="en-US" sz="1600" dirty="0"/>
          </a:p>
          <a:p>
            <a:pPr marL="203200" indent="-203200">
              <a:lnSpc>
                <a:spcPct val="104000"/>
              </a:lnSpc>
              <a:spcAft>
                <a:spcPts val="1400"/>
              </a:spcAft>
              <a:buSzPct val="100000"/>
              <a:buChar char="•"/>
            </a:pPr>
            <a:r>
              <a:rPr lang="en-US" sz="1600" dirty="0">
                <a:solidFill>
                  <a:srgbClr val="C7D2DE"/>
                </a:solidFill>
                <a:latin typeface="Segoe UI" pitchFamily="34" charset="0"/>
                <a:ea typeface="Segoe UI" pitchFamily="34" charset="-122"/>
                <a:cs typeface="Segoe UI" pitchFamily="34" charset="-120"/>
              </a:rPr>
              <a:t>Desktop + mobile (dual-skin) tours — the search appears and works on both.</a:t>
            </a:r>
            <a:endParaRPr lang="en-US" sz="1600" dirty="0"/>
          </a:p>
          <a:p>
            <a:pPr marL="203200" indent="-203200">
              <a:lnSpc>
                <a:spcPct val="104000"/>
              </a:lnSpc>
              <a:spcAft>
                <a:spcPts val="1400"/>
              </a:spcAft>
              <a:buSzPct val="100000"/>
              <a:buChar char="•"/>
            </a:pPr>
            <a:r>
              <a:rPr lang="en-US" sz="1600" dirty="0">
                <a:solidFill>
                  <a:srgbClr val="C7D2DE"/>
                </a:solidFill>
                <a:latin typeface="Segoe UI" pitchFamily="34" charset="0"/>
                <a:ea typeface="Segoe UI" pitchFamily="34" charset="-122"/>
                <a:cs typeface="Segoe UI" pitchFamily="34" charset="-120"/>
              </a:rPr>
              <a:t>Multiple languages — it reads every locale/*.txt.</a:t>
            </a:r>
            <a:endParaRPr lang="en-US" sz="1600" dirty="0"/>
          </a:p>
          <a:p>
            <a:pPr marL="203200" indent="-203200">
              <a:lnSpc>
                <a:spcPct val="104000"/>
              </a:lnSpc>
              <a:spcAft>
                <a:spcPts val="1400"/>
              </a:spcAft>
              <a:buSzPct val="100000"/>
              <a:buChar char="•"/>
            </a:pPr>
            <a:r>
              <a:rPr lang="en-US" sz="1600" dirty="0">
                <a:solidFill>
                  <a:srgbClr val="E8943A"/>
                </a:solidFill>
                <a:latin typeface="Segoe UI" pitchFamily="34" charset="0"/>
                <a:ea typeface="Segoe UI" pitchFamily="34" charset="-122"/>
                <a:cs typeface="Segoe UI" pitchFamily="34" charset="-120"/>
              </a:rPr>
              <a:t>Limitation: pop-up photos/albums can't be opened by a script (off by default).</a:t>
            </a:r>
            <a:endParaRPr lang="en-US" sz="1600" dirty="0"/>
          </a:p>
          <a:p>
            <a:pPr marL="203200" indent="-203200">
              <a:lnSpc>
                <a:spcPct val="104000"/>
              </a:lnSpc>
              <a:spcAft>
                <a:spcPts val="1400"/>
              </a:spcAft>
              <a:buSzPct val="100000"/>
              <a:buChar char="•"/>
            </a:pPr>
            <a:r>
              <a:rPr lang="en-US" sz="1600" dirty="0">
                <a:solidFill>
                  <a:srgbClr val="9FB2C6"/>
                </a:solidFill>
                <a:latin typeface="Segoe UI" pitchFamily="34" charset="0"/>
                <a:ea typeface="Segoe UI" pitchFamily="34" charset="-122"/>
                <a:cs typeface="Segoe UI" pitchFamily="34" charset="-120"/>
              </a:rPr>
              <a:t>Independent, unofficial tool — not affiliated with 3DVista.</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01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DA3FF"/>
          </a:solidFill>
          <a:ln/>
        </p:spPr>
      </p:sp>
      <p:sp>
        <p:nvSpPr>
          <p:cNvPr id="3" name="Text 1"/>
          <p:cNvSpPr/>
          <p:nvPr/>
        </p:nvSpPr>
        <p:spPr>
          <a:xfrm>
            <a:off x="822960" y="640080"/>
            <a:ext cx="10058400" cy="365760"/>
          </a:xfrm>
          <a:prstGeom prst="rect">
            <a:avLst/>
          </a:prstGeom>
          <a:noFill/>
          <a:ln/>
        </p:spPr>
        <p:txBody>
          <a:bodyPr wrap="square" rtlCol="0" anchor="ctr"/>
          <a:lstStyle/>
          <a:p>
            <a:pPr indent="0" marL="0">
              <a:buNone/>
            </a:pPr>
            <a:r>
              <a:rPr lang="en-US" sz="1300" b="1" spc="300" kern="0" dirty="0">
                <a:solidFill>
                  <a:srgbClr val="2DA3FF"/>
                </a:solidFill>
                <a:latin typeface="Segoe UI" pitchFamily="34" charset="0"/>
                <a:ea typeface="Segoe UI" pitchFamily="34" charset="-122"/>
                <a:cs typeface="Segoe UI" pitchFamily="34" charset="-120"/>
              </a:rPr>
              <a:t>RECAP</a:t>
            </a:r>
            <a:endParaRPr lang="en-US" sz="1300" dirty="0"/>
          </a:p>
        </p:txBody>
      </p:sp>
      <p:sp>
        <p:nvSpPr>
          <p:cNvPr id="4" name="Text 2"/>
          <p:cNvSpPr/>
          <p:nvPr/>
        </p:nvSpPr>
        <p:spPr>
          <a:xfrm>
            <a:off x="777240" y="1005840"/>
            <a:ext cx="10607040" cy="822960"/>
          </a:xfrm>
          <a:prstGeom prst="rect">
            <a:avLst/>
          </a:prstGeom>
          <a:noFill/>
          <a:ln/>
        </p:spPr>
        <p:txBody>
          <a:bodyPr wrap="square" rtlCol="0" anchor="ctr"/>
          <a:lstStyle/>
          <a:p>
            <a:pPr indent="0" marL="0">
              <a:buNone/>
            </a:pPr>
            <a:r>
              <a:rPr lang="en-US" sz="3400" b="1" dirty="0">
                <a:solidFill>
                  <a:srgbClr val="EEF3F9"/>
                </a:solidFill>
                <a:latin typeface="Segoe UI" pitchFamily="34" charset="0"/>
                <a:ea typeface="Segoe UI" pitchFamily="34" charset="-122"/>
                <a:cs typeface="Segoe UI" pitchFamily="34" charset="-120"/>
              </a:rPr>
              <a:t>Search — and guide — any 3DVista tour</a:t>
            </a:r>
            <a:endParaRPr lang="en-US" sz="3400" dirty="0"/>
          </a:p>
        </p:txBody>
      </p:sp>
      <p:sp>
        <p:nvSpPr>
          <p:cNvPr id="5" name="Text 3"/>
          <p:cNvSpPr/>
          <p:nvPr/>
        </p:nvSpPr>
        <p:spPr>
          <a:xfrm>
            <a:off x="868680" y="2011680"/>
            <a:ext cx="10607040" cy="4206240"/>
          </a:xfrm>
          <a:prstGeom prst="rect">
            <a:avLst/>
          </a:prstGeom>
          <a:noFill/>
          <a:ln/>
        </p:spPr>
        <p:txBody>
          <a:bodyPr wrap="square" rtlCol="0" anchor="t"/>
          <a:lstStyle/>
          <a:p>
            <a:pPr marL="203200" indent="-203200">
              <a:lnSpc>
                <a:spcPct val="104000"/>
              </a:lnSpc>
              <a:spcAft>
                <a:spcPts val="1300"/>
              </a:spcAft>
              <a:buSzPct val="100000"/>
              <a:buChar char="•"/>
            </a:pPr>
            <a:r>
              <a:rPr lang="en-US" sz="1700" b="1" dirty="0">
                <a:solidFill>
                  <a:srgbClr val="EEF3F9"/>
                </a:solidFill>
                <a:latin typeface="Segoe UI" pitchFamily="34" charset="0"/>
                <a:ea typeface="Segoe UI" pitchFamily="34" charset="-122"/>
                <a:cs typeface="Segoe UI" pitchFamily="34" charset="-120"/>
              </a:rPr>
              <a:t>Drop in your tour → configure → export. No code.</a:t>
            </a:r>
            <a:endParaRPr lang="en-US" sz="1700" dirty="0"/>
          </a:p>
          <a:p>
            <a:pPr marL="203200" indent="-203200">
              <a:lnSpc>
                <a:spcPct val="104000"/>
              </a:lnSpc>
              <a:spcAft>
                <a:spcPts val="1300"/>
              </a:spcAft>
              <a:buSzPct val="100000"/>
              <a:buChar char="•"/>
            </a:pPr>
            <a:r>
              <a:rPr lang="en-US" sz="1700" dirty="0">
                <a:solidFill>
                  <a:srgbClr val="C7D2DE"/>
                </a:solidFill>
                <a:latin typeface="Segoe UI" pitchFamily="34" charset="0"/>
                <a:ea typeface="Segoe UI" pitchFamily="34" charset="-122"/>
                <a:cs typeface="Segoe UI" pitchFamily="34" charset="-120"/>
              </a:rPr>
              <a:t>Forgiving search: typos, accents, multiple languages, browse-all.</a:t>
            </a:r>
            <a:endParaRPr lang="en-US" sz="1700" dirty="0"/>
          </a:p>
          <a:p>
            <a:pPr marL="203200" indent="-203200">
              <a:lnSpc>
                <a:spcPct val="104000"/>
              </a:lnSpc>
              <a:spcAft>
                <a:spcPts val="1300"/>
              </a:spcAft>
              <a:buSzPct val="100000"/>
              <a:buChar char="•"/>
            </a:pPr>
            <a:r>
              <a:rPr lang="en-US" sz="1700" dirty="0">
                <a:solidFill>
                  <a:srgbClr val="C7D2DE"/>
                </a:solidFill>
                <a:latin typeface="Segoe UI" pitchFamily="34" charset="0"/>
                <a:ea typeface="Segoe UI" pitchFamily="34" charset="-122"/>
                <a:cs typeface="Segoe UI" pitchFamily="34" charset="-120"/>
              </a:rPr>
              <a:t>Rename items and add keywords so everything is findable.</a:t>
            </a:r>
            <a:endParaRPr lang="en-US" sz="1700" dirty="0"/>
          </a:p>
          <a:p>
            <a:pPr marL="203200" indent="-203200">
              <a:lnSpc>
                <a:spcPct val="104000"/>
              </a:lnSpc>
              <a:spcAft>
                <a:spcPts val="1300"/>
              </a:spcAft>
              <a:buSzPct val="100000"/>
              <a:buChar char="•"/>
            </a:pPr>
            <a:r>
              <a:rPr lang="en-US" sz="1700" dirty="0">
                <a:solidFill>
                  <a:srgbClr val="C7D2DE"/>
                </a:solidFill>
                <a:latin typeface="Segoe UI" pitchFamily="34" charset="0"/>
                <a:ea typeface="Segoe UI" pitchFamily="34" charset="-122"/>
                <a:cs typeface="Segoe UI" pitchFamily="34" charset="-120"/>
              </a:rPr>
              <a:t>Guided navigation walks visitors there, the shortest way.</a:t>
            </a:r>
            <a:endParaRPr lang="en-US" sz="1700" dirty="0"/>
          </a:p>
          <a:p>
            <a:pPr marL="203200" indent="-203200">
              <a:lnSpc>
                <a:spcPct val="104000"/>
              </a:lnSpc>
              <a:spcAft>
                <a:spcPts val="1300"/>
              </a:spcAft>
              <a:buSzPct val="100000"/>
              <a:buChar char="•"/>
            </a:pPr>
            <a:r>
              <a:rPr lang="en-US" sz="1700" dirty="0">
                <a:solidFill>
                  <a:srgbClr val="C7D2DE"/>
                </a:solidFill>
                <a:latin typeface="Segoe UI" pitchFamily="34" charset="0"/>
                <a:ea typeface="Segoe UI" pitchFamily="34" charset="-122"/>
                <a:cs typeface="Segoe UI" pitchFamily="34" charset="-120"/>
              </a:rPr>
              <a:t>100% offline &amp; private — one self-contained file.</a:t>
            </a:r>
            <a:endParaRPr lang="en-US" sz="1700" dirty="0"/>
          </a:p>
        </p:txBody>
      </p:sp>
      <p:sp>
        <p:nvSpPr>
          <p:cNvPr id="6" name="Shape 4"/>
          <p:cNvSpPr/>
          <p:nvPr/>
        </p:nvSpPr>
        <p:spPr>
          <a:xfrm>
            <a:off x="777240" y="5029200"/>
            <a:ext cx="10607040" cy="1188720"/>
          </a:xfrm>
          <a:prstGeom prst="roundRect">
            <a:avLst>
              <a:gd name="adj" fmla="val 6923"/>
            </a:avLst>
          </a:prstGeom>
          <a:solidFill>
            <a:srgbClr val="161D27"/>
          </a:solidFill>
          <a:ln w="12700">
            <a:solidFill>
              <a:srgbClr val="243042"/>
            </a:solidFill>
            <a:prstDash val="solid"/>
          </a:ln>
        </p:spPr>
      </p:sp>
      <p:pic>
        <p:nvPicPr>
          <p:cNvPr id="7" name="Image 0" descr="C:\Users\Ahmad\Downloads\Git\rockbench_Logo.jpg">    </p:cNvPr>
          <p:cNvPicPr>
            <a:picLocks noChangeAspect="1"/>
          </p:cNvPicPr>
          <p:nvPr/>
        </p:nvPicPr>
        <p:blipFill>
          <a:blip r:embed="rId1"/>
          <a:stretch>
            <a:fillRect/>
          </a:stretch>
        </p:blipFill>
        <p:spPr>
          <a:xfrm>
            <a:off x="960120" y="5212080"/>
            <a:ext cx="822960" cy="822960"/>
          </a:xfrm>
          <a:prstGeom prst="ellipse">
            <a:avLst/>
          </a:prstGeom>
        </p:spPr>
      </p:pic>
      <p:sp>
        <p:nvSpPr>
          <p:cNvPr id="8" name="Text 5"/>
          <p:cNvSpPr/>
          <p:nvPr/>
        </p:nvSpPr>
        <p:spPr>
          <a:xfrm>
            <a:off x="2011680" y="5029200"/>
            <a:ext cx="9144000" cy="1188720"/>
          </a:xfrm>
          <a:prstGeom prst="rect">
            <a:avLst/>
          </a:prstGeom>
          <a:noFill/>
          <a:ln/>
        </p:spPr>
        <p:txBody>
          <a:bodyPr wrap="square" rtlCol="0" anchor="ctr"/>
          <a:lstStyle/>
          <a:p>
            <a:pPr indent="0" marL="0">
              <a:buNone/>
            </a:pPr>
            <a:r>
              <a:rPr lang="en-US" sz="1600" b="1" dirty="0">
                <a:solidFill>
                  <a:srgbClr val="C7D2DE"/>
                </a:solidFill>
                <a:latin typeface="Segoe UI" pitchFamily="34" charset="0"/>
                <a:ea typeface="Segoe UI" pitchFamily="34" charset="-122"/>
                <a:cs typeface="Segoe UI" pitchFamily="34" charset="-120"/>
              </a:rPr>
              <a:t>Made by RockBench  ·  </a:t>
            </a:r>
            <a:pPr indent="0" marL="0">
              <a:buNone/>
            </a:pPr>
            <a:r>
              <a:rPr lang="en-US" sz="1600" b="1" dirty="0">
                <a:solidFill>
                  <a:srgbClr val="2DA3FF"/>
                </a:solidFill>
                <a:latin typeface="Segoe UI" pitchFamily="34" charset="0"/>
                <a:ea typeface="Segoe UI" pitchFamily="34" charset="-122"/>
                <a:cs typeface="Segoe UI" pitchFamily="34" charset="-120"/>
              </a:rPr>
              <a:t>youtube.com/@rockbench</a:t>
            </a:r>
            <a:pPr indent="0" marL="0">
              <a:buNone/>
            </a:pPr>
            <a:r>
              <a:rPr lang="en-US" sz="1600" dirty="0">
                <a:solidFill>
                  <a:srgbClr val="9FB2C6"/>
                </a:solidFill>
                <a:latin typeface="Segoe UI" pitchFamily="34" charset="0"/>
                <a:ea typeface="Segoe UI" pitchFamily="34" charset="-122"/>
                <a:cs typeface="Segoe UI" pitchFamily="34" charset="-120"/>
              </a:rPr>
              <a:t>   — subscribe for more 3DVista &amp; geo-engineering tutorials.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VT Search Builder — Tutorial</dc:title>
  <dc:subject>PptxGenJS Presentation</dc:subject>
  <dc:creator>RockBench</dc:creator>
  <cp:lastModifiedBy>RockBench</cp:lastModifiedBy>
  <cp:revision>1</cp:revision>
  <dcterms:created xsi:type="dcterms:W3CDTF">2026-06-02T20:26:12Z</dcterms:created>
  <dcterms:modified xsi:type="dcterms:W3CDTF">2026-06-02T20:26:12Z</dcterms:modified>
</cp:coreProperties>
</file>